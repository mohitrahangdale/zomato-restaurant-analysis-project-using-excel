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9" r:id="rId1"/>
  </p:sldMasterIdLst>
  <p:notesMasterIdLst>
    <p:notesMasterId r:id="rId18"/>
  </p:notesMasterIdLst>
  <p:sldIdLst>
    <p:sldId id="256" r:id="rId2"/>
    <p:sldId id="262" r:id="rId3"/>
    <p:sldId id="343" r:id="rId4"/>
    <p:sldId id="344" r:id="rId5"/>
    <p:sldId id="350" r:id="rId6"/>
    <p:sldId id="339" r:id="rId7"/>
    <p:sldId id="340" r:id="rId8"/>
    <p:sldId id="349" r:id="rId9"/>
    <p:sldId id="341" r:id="rId10"/>
    <p:sldId id="342" r:id="rId11"/>
    <p:sldId id="345" r:id="rId12"/>
    <p:sldId id="346" r:id="rId13"/>
    <p:sldId id="347" r:id="rId14"/>
    <p:sldId id="348" r:id="rId15"/>
    <p:sldId id="263" r:id="rId16"/>
    <p:sldId id="264" r:id="rId17"/>
  </p:sldIdLst>
  <p:sldSz cx="9144000" cy="5143500" type="screen16x9"/>
  <p:notesSz cx="6858000" cy="9144000"/>
  <p:embeddedFontLst>
    <p:embeddedFont>
      <p:font typeface="Bebas Neue" panose="020B0606020202050201" pitchFamily="34" charset="0"/>
      <p:regular r:id="rId19"/>
    </p:embeddedFont>
    <p:embeddedFont>
      <p:font typeface="Fira Sans Extra Condensed Medium" panose="020B0604020202020204" charset="0"/>
      <p:regular r:id="rId20"/>
      <p:bold r:id="rId21"/>
      <p:italic r:id="rId22"/>
      <p:boldItalic r:id="rId23"/>
    </p:embeddedFont>
    <p:embeddedFont>
      <p:font typeface="Overpass" panose="020B0604020202020204" charset="0"/>
      <p:regular r:id="rId24"/>
      <p:bold r:id="rId25"/>
      <p:italic r:id="rId26"/>
      <p:boldItalic r:id="rId27"/>
    </p:embeddedFont>
    <p:embeddedFont>
      <p:font typeface="Overpass Light" panose="020B0604020202020204" charset="0"/>
      <p:regular r:id="rId28"/>
      <p:bold r:id="rId29"/>
      <p:italic r:id="rId30"/>
      <p:boldItalic r:id="rId31"/>
    </p:embeddedFont>
    <p:embeddedFont>
      <p:font typeface="Roboto Slab Light"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53046C-4792-4E88-8FCA-E8C7AC8B9A66}">
  <a:tblStyle styleId="{D753046C-4792-4E88-8FCA-E8C7AC8B9A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15" d="100"/>
          <a:sy n="115" d="100"/>
        </p:scale>
        <p:origin x="47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hit%20Rahangdale\Downloads\Copy%20of%20Copy%20of%20Zomato_Data_1%20(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hit%20Rahangdale\Downloads\Copy%20of%20Zomato%20project%20dashboar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hit%20Rahangdale\Downloads\Copy%20of%20Zomato%20project%20dashboar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hit%20Rahangdale\Downloads\Copy%20of%20Zomato%20project%20dashboar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ohit%20Rahangdale\Downloads\Copy%20of%20Copy%20of%20Zomato_Data_1%20(Recovere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ohit%20Rahangdale\Downloads\Copy%20of%20Zomato%20project%20dashboar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ohit%20Rahangdale\Downloads\Copy%20of%20Copy%20of%20Zomato_Data_1%20(Recovered).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oleObject" Target="file:///C:\Users\Mohit%20Rahangdale\Downloads\Copy%20of%20Copy%20of%20Zomato_Data_1%20(Recov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NO.</a:t>
            </a:r>
            <a:r>
              <a:rPr lang="en-US" baseline="0" dirty="0"/>
              <a:t> OF RESTUARNTS OPENED IN EACH YEAR</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w="28575" cap="rnd">
            <a:solidFill>
              <a:schemeClr val="accent6"/>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w="28575"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v>Total</c:v>
          </c:tx>
          <c:spPr>
            <a:ln w="28575" cap="rnd">
              <a:solidFill>
                <a:schemeClr val="tx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9"/>
              <c:pt idx="0">
                <c:v>2010</c:v>
              </c:pt>
              <c:pt idx="1">
                <c:v>2011</c:v>
              </c:pt>
              <c:pt idx="2">
                <c:v>2012</c:v>
              </c:pt>
              <c:pt idx="3">
                <c:v>2013</c:v>
              </c:pt>
              <c:pt idx="4">
                <c:v>2014</c:v>
              </c:pt>
              <c:pt idx="5">
                <c:v>2015</c:v>
              </c:pt>
              <c:pt idx="6">
                <c:v>2016</c:v>
              </c:pt>
              <c:pt idx="7">
                <c:v>2017</c:v>
              </c:pt>
              <c:pt idx="8">
                <c:v>2018</c:v>
              </c:pt>
            </c:strLit>
          </c:cat>
          <c:val>
            <c:numLit>
              <c:formatCode>General</c:formatCode>
              <c:ptCount val="9"/>
              <c:pt idx="0">
                <c:v>1080</c:v>
              </c:pt>
              <c:pt idx="1">
                <c:v>1098</c:v>
              </c:pt>
              <c:pt idx="2">
                <c:v>1022</c:v>
              </c:pt>
              <c:pt idx="3">
                <c:v>1061</c:v>
              </c:pt>
              <c:pt idx="4">
                <c:v>1051</c:v>
              </c:pt>
              <c:pt idx="5">
                <c:v>1024</c:v>
              </c:pt>
              <c:pt idx="6">
                <c:v>1027</c:v>
              </c:pt>
              <c:pt idx="7">
                <c:v>1086</c:v>
              </c:pt>
              <c:pt idx="8">
                <c:v>1102</c:v>
              </c:pt>
            </c:numLit>
          </c:val>
          <c:smooth val="0"/>
          <c:extLst>
            <c:ext xmlns:c16="http://schemas.microsoft.com/office/drawing/2014/chart" uri="{C3380CC4-5D6E-409C-BE32-E72D297353CC}">
              <c16:uniqueId val="{00000000-F3EF-45AD-A416-F6C2608A584D}"/>
            </c:ext>
          </c:extLst>
        </c:ser>
        <c:dLbls>
          <c:dLblPos val="t"/>
          <c:showLegendKey val="0"/>
          <c:showVal val="1"/>
          <c:showCatName val="0"/>
          <c:showSerName val="0"/>
          <c:showPercent val="0"/>
          <c:showBubbleSize val="0"/>
        </c:dLbls>
        <c:smooth val="0"/>
        <c:axId val="27821695"/>
        <c:axId val="27831295"/>
      </c:lineChart>
      <c:catAx>
        <c:axId val="2782169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831295"/>
        <c:crosses val="autoZero"/>
        <c:auto val="1"/>
        <c:lblAlgn val="ctr"/>
        <c:lblOffset val="100"/>
        <c:noMultiLvlLbl val="0"/>
      </c:catAx>
      <c:valAx>
        <c:axId val="27831295"/>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821695"/>
        <c:crosses val="autoZero"/>
        <c:crossBetween val="between"/>
        <c:majorUnit val="25"/>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Zomato project dashboard.xlsx]New_pivotTableandChart!PivotTable4</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TOTAL RESTAURANTS COUNTRY-WISE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New_pivotTableandChart!$B$2</c:f>
              <c:strCache>
                <c:ptCount val="1"/>
                <c:pt idx="0">
                  <c:v>Total</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New_pivotTableandChart!$A$3:$A$18</c:f>
              <c:strCache>
                <c:ptCount val="15"/>
                <c:pt idx="0">
                  <c:v>Canada</c:v>
                </c:pt>
                <c:pt idx="1">
                  <c:v>Qatar</c:v>
                </c:pt>
                <c:pt idx="2">
                  <c:v>Singapore</c:v>
                </c:pt>
                <c:pt idx="3">
                  <c:v>Sri Lanka</c:v>
                </c:pt>
                <c:pt idx="4">
                  <c:v>Indonesia</c:v>
                </c:pt>
                <c:pt idx="5">
                  <c:v>Philippines</c:v>
                </c:pt>
                <c:pt idx="6">
                  <c:v>Australia</c:v>
                </c:pt>
                <c:pt idx="7">
                  <c:v>Turkey</c:v>
                </c:pt>
                <c:pt idx="8">
                  <c:v>New Zealand</c:v>
                </c:pt>
                <c:pt idx="9">
                  <c:v>Brazil</c:v>
                </c:pt>
                <c:pt idx="10">
                  <c:v>United Arab Emirates</c:v>
                </c:pt>
                <c:pt idx="11">
                  <c:v>South Africa</c:v>
                </c:pt>
                <c:pt idx="12">
                  <c:v>United Kingdom</c:v>
                </c:pt>
                <c:pt idx="13">
                  <c:v>United States of America</c:v>
                </c:pt>
                <c:pt idx="14">
                  <c:v>India</c:v>
                </c:pt>
              </c:strCache>
            </c:strRef>
          </c:cat>
          <c:val>
            <c:numRef>
              <c:f>New_pivotTableandChart!$B$3:$B$18</c:f>
              <c:numCache>
                <c:formatCode>General</c:formatCode>
                <c:ptCount val="15"/>
                <c:pt idx="0">
                  <c:v>4</c:v>
                </c:pt>
                <c:pt idx="1">
                  <c:v>20</c:v>
                </c:pt>
                <c:pt idx="2">
                  <c:v>20</c:v>
                </c:pt>
                <c:pt idx="3">
                  <c:v>20</c:v>
                </c:pt>
                <c:pt idx="4">
                  <c:v>21</c:v>
                </c:pt>
                <c:pt idx="5">
                  <c:v>22</c:v>
                </c:pt>
                <c:pt idx="6">
                  <c:v>24</c:v>
                </c:pt>
                <c:pt idx="7">
                  <c:v>34</c:v>
                </c:pt>
                <c:pt idx="8">
                  <c:v>40</c:v>
                </c:pt>
                <c:pt idx="9">
                  <c:v>60</c:v>
                </c:pt>
                <c:pt idx="10">
                  <c:v>60</c:v>
                </c:pt>
                <c:pt idx="11">
                  <c:v>60</c:v>
                </c:pt>
                <c:pt idx="12">
                  <c:v>80</c:v>
                </c:pt>
                <c:pt idx="13">
                  <c:v>434</c:v>
                </c:pt>
                <c:pt idx="14">
                  <c:v>8652</c:v>
                </c:pt>
              </c:numCache>
            </c:numRef>
          </c:val>
          <c:extLst>
            <c:ext xmlns:c16="http://schemas.microsoft.com/office/drawing/2014/chart" uri="{C3380CC4-5D6E-409C-BE32-E72D297353CC}">
              <c16:uniqueId val="{00000000-8396-4ED0-A893-3FB60C9FF674}"/>
            </c:ext>
          </c:extLst>
        </c:ser>
        <c:dLbls>
          <c:dLblPos val="outEnd"/>
          <c:showLegendKey val="0"/>
          <c:showVal val="1"/>
          <c:showCatName val="0"/>
          <c:showSerName val="0"/>
          <c:showPercent val="0"/>
          <c:showBubbleSize val="0"/>
        </c:dLbls>
        <c:gapWidth val="182"/>
        <c:axId val="715929071"/>
        <c:axId val="715930031"/>
      </c:barChart>
      <c:catAx>
        <c:axId val="7159290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30031"/>
        <c:crosses val="autoZero"/>
        <c:auto val="1"/>
        <c:lblAlgn val="ctr"/>
        <c:lblOffset val="100"/>
        <c:noMultiLvlLbl val="0"/>
      </c:catAx>
      <c:valAx>
        <c:axId val="71593003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290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Zomato project dashboard.xlsx]New_pivotTableandChart!PivotTable10</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TOP</a:t>
            </a:r>
            <a:r>
              <a:rPr lang="en-IN" baseline="0" dirty="0"/>
              <a:t> 10 CUISINES</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New_pivotTableandChart!$J$43</c:f>
              <c:strCache>
                <c:ptCount val="1"/>
                <c:pt idx="0">
                  <c:v>Total</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New_pivotTableandChart!$I$44:$I$54</c:f>
              <c:strCache>
                <c:ptCount val="10"/>
                <c:pt idx="0">
                  <c:v>North Indian</c:v>
                </c:pt>
                <c:pt idx="1">
                  <c:v>North Indian, Chinese</c:v>
                </c:pt>
                <c:pt idx="2">
                  <c:v>Chinese</c:v>
                </c:pt>
                <c:pt idx="3">
                  <c:v>Fast Food</c:v>
                </c:pt>
                <c:pt idx="4">
                  <c:v>North Indian, Mughlai</c:v>
                </c:pt>
                <c:pt idx="5">
                  <c:v>Cafe</c:v>
                </c:pt>
                <c:pt idx="6">
                  <c:v>Bakery</c:v>
                </c:pt>
                <c:pt idx="7">
                  <c:v>North Indian, Mughlai, Chinese</c:v>
                </c:pt>
                <c:pt idx="8">
                  <c:v>Bakery, Desserts</c:v>
                </c:pt>
                <c:pt idx="9">
                  <c:v>Street Food</c:v>
                </c:pt>
              </c:strCache>
            </c:strRef>
          </c:cat>
          <c:val>
            <c:numRef>
              <c:f>New_pivotTableandChart!$J$44:$J$54</c:f>
              <c:numCache>
                <c:formatCode>General</c:formatCode>
                <c:ptCount val="10"/>
                <c:pt idx="0">
                  <c:v>936</c:v>
                </c:pt>
                <c:pt idx="1">
                  <c:v>511</c:v>
                </c:pt>
                <c:pt idx="2">
                  <c:v>354</c:v>
                </c:pt>
                <c:pt idx="3">
                  <c:v>354</c:v>
                </c:pt>
                <c:pt idx="4">
                  <c:v>334</c:v>
                </c:pt>
                <c:pt idx="5">
                  <c:v>299</c:v>
                </c:pt>
                <c:pt idx="6">
                  <c:v>218</c:v>
                </c:pt>
                <c:pt idx="7">
                  <c:v>197</c:v>
                </c:pt>
                <c:pt idx="8">
                  <c:v>170</c:v>
                </c:pt>
                <c:pt idx="9">
                  <c:v>149</c:v>
                </c:pt>
              </c:numCache>
            </c:numRef>
          </c:val>
          <c:extLst>
            <c:ext xmlns:c16="http://schemas.microsoft.com/office/drawing/2014/chart" uri="{C3380CC4-5D6E-409C-BE32-E72D297353CC}">
              <c16:uniqueId val="{00000000-9721-4112-9A81-48ED34F159BD}"/>
            </c:ext>
          </c:extLst>
        </c:ser>
        <c:dLbls>
          <c:dLblPos val="outEnd"/>
          <c:showLegendKey val="0"/>
          <c:showVal val="1"/>
          <c:showCatName val="0"/>
          <c:showSerName val="0"/>
          <c:showPercent val="0"/>
          <c:showBubbleSize val="0"/>
        </c:dLbls>
        <c:gapWidth val="219"/>
        <c:overlap val="-27"/>
        <c:axId val="1255016815"/>
        <c:axId val="1255012015"/>
      </c:barChart>
      <c:catAx>
        <c:axId val="125501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5012015"/>
        <c:crosses val="autoZero"/>
        <c:auto val="1"/>
        <c:lblAlgn val="ctr"/>
        <c:lblOffset val="100"/>
        <c:noMultiLvlLbl val="0"/>
      </c:catAx>
      <c:valAx>
        <c:axId val="1255012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501681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Zomato project dashboard.xlsx]New_pivotTableandChart!PivotTable7</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a:t>
            </a:r>
            <a:r>
              <a:rPr lang="en-US" baseline="0"/>
              <a:t> COST OF TWO COUNTRY-WISE (INR)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New_pivotTableandChart!$I$21</c:f>
              <c:strCache>
                <c:ptCount val="1"/>
                <c:pt idx="0">
                  <c:v>Total</c:v>
                </c:pt>
              </c:strCache>
            </c:strRef>
          </c:tx>
          <c:spPr>
            <a:solidFill>
              <a:srgbClr val="FF0000"/>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New_pivotTableandChart!$H$22:$H$37</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New_pivotTableandChart!$I$22:$I$37</c:f>
              <c:numCache>
                <c:formatCode>0.00</c:formatCode>
                <c:ptCount val="15"/>
                <c:pt idx="0">
                  <c:v>1445.2408333333333</c:v>
                </c:pt>
                <c:pt idx="1">
                  <c:v>2212.5733333333333</c:v>
                </c:pt>
                <c:pt idx="2">
                  <c:v>2376.5500000000002</c:v>
                </c:pt>
                <c:pt idx="3">
                  <c:v>623.37031900138697</c:v>
                </c:pt>
                <c:pt idx="4">
                  <c:v>1518.4285714285713</c:v>
                </c:pt>
                <c:pt idx="5">
                  <c:v>3609.5625</c:v>
                </c:pt>
                <c:pt idx="6">
                  <c:v>2458.431818181818</c:v>
                </c:pt>
                <c:pt idx="7">
                  <c:v>5531.1</c:v>
                </c:pt>
                <c:pt idx="8">
                  <c:v>10890.039999999999</c:v>
                </c:pt>
                <c:pt idx="9">
                  <c:v>2279.1520000000005</c:v>
                </c:pt>
                <c:pt idx="10">
                  <c:v>688.75</c:v>
                </c:pt>
                <c:pt idx="11">
                  <c:v>177.34264705882353</c:v>
                </c:pt>
                <c:pt idx="12">
                  <c:v>4072.2158333333341</c:v>
                </c:pt>
                <c:pt idx="13">
                  <c:v>5785.7906249999996</c:v>
                </c:pt>
                <c:pt idx="14">
                  <c:v>2351.0714285714284</c:v>
                </c:pt>
              </c:numCache>
            </c:numRef>
          </c:val>
          <c:extLst>
            <c:ext xmlns:c16="http://schemas.microsoft.com/office/drawing/2014/chart" uri="{C3380CC4-5D6E-409C-BE32-E72D297353CC}">
              <c16:uniqueId val="{00000000-7BA2-49E8-9549-E10AE0644530}"/>
            </c:ext>
          </c:extLst>
        </c:ser>
        <c:dLbls>
          <c:showLegendKey val="0"/>
          <c:showVal val="1"/>
          <c:showCatName val="0"/>
          <c:showSerName val="0"/>
          <c:showPercent val="0"/>
          <c:showBubbleSize val="0"/>
        </c:dLbls>
        <c:axId val="715922351"/>
        <c:axId val="715906031"/>
      </c:areaChart>
      <c:catAx>
        <c:axId val="715922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06031"/>
        <c:crosses val="autoZero"/>
        <c:auto val="1"/>
        <c:lblAlgn val="ctr"/>
        <c:lblOffset val="100"/>
        <c:noMultiLvlLbl val="0"/>
      </c:catAx>
      <c:valAx>
        <c:axId val="71590603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2235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Copy of Zomato_Data_1 (Recovered).xlsx]Sheet1!PivotTable8</c:name>
    <c:fmtId val="18"/>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0" i="0" u="none" strike="noStrike" kern="1200" spc="0" baseline="0" dirty="0">
                <a:solidFill>
                  <a:srgbClr val="D82727">
                    <a:lumMod val="65000"/>
                    <a:lumOff val="35000"/>
                  </a:srgbClr>
                </a:solidFill>
              </a:rPr>
              <a:t>Average Rating of Each Country</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tx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tx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dLbls>
          <c:dLblPos val="outEnd"/>
          <c:showLegendKey val="0"/>
          <c:showVal val="1"/>
          <c:showCatName val="0"/>
          <c:showSerName val="0"/>
          <c:showPercent val="0"/>
          <c:showBubbleSize val="0"/>
        </c:dLbls>
        <c:gapWidth val="182"/>
        <c:axId val="27850015"/>
        <c:axId val="27850495"/>
      </c:barChart>
      <c:catAx>
        <c:axId val="278500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850495"/>
        <c:crosses val="autoZero"/>
        <c:auto val="1"/>
        <c:lblAlgn val="ctr"/>
        <c:lblOffset val="100"/>
        <c:noMultiLvlLbl val="0"/>
      </c:catAx>
      <c:valAx>
        <c:axId val="278504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8500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Zomato project dashboard.xlsx]New_pivotTableandChart!PivotTable6</c:name>
    <c:fmtId val="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a:t>
            </a:r>
            <a:r>
              <a:rPr lang="en-US" baseline="0" dirty="0"/>
              <a:t> RATING OF EACH COUNTRY</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New_pivotTableandChart!$B$20</c:f>
              <c:strCache>
                <c:ptCount val="1"/>
                <c:pt idx="0">
                  <c:v>Total</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New_pivotTableandChart!$A$21:$A$36</c:f>
              <c:strCache>
                <c:ptCount val="15"/>
                <c:pt idx="0">
                  <c:v>India</c:v>
                </c:pt>
                <c:pt idx="1">
                  <c:v>Canada</c:v>
                </c:pt>
                <c:pt idx="2">
                  <c:v>Singapore</c:v>
                </c:pt>
                <c:pt idx="3">
                  <c:v>Australia</c:v>
                </c:pt>
                <c:pt idx="4">
                  <c:v>Brazil</c:v>
                </c:pt>
                <c:pt idx="5">
                  <c:v>Sri Lanka</c:v>
                </c:pt>
                <c:pt idx="6">
                  <c:v>United States of America</c:v>
                </c:pt>
                <c:pt idx="7">
                  <c:v>Qatar</c:v>
                </c:pt>
                <c:pt idx="8">
                  <c:v>United Kingdom</c:v>
                </c:pt>
                <c:pt idx="9">
                  <c:v>South Africa</c:v>
                </c:pt>
                <c:pt idx="10">
                  <c:v>United Arab Emirates</c:v>
                </c:pt>
                <c:pt idx="11">
                  <c:v>New Zealand</c:v>
                </c:pt>
                <c:pt idx="12">
                  <c:v>Indonesia</c:v>
                </c:pt>
                <c:pt idx="13">
                  <c:v>Turkey</c:v>
                </c:pt>
                <c:pt idx="14">
                  <c:v>Philippines</c:v>
                </c:pt>
              </c:strCache>
            </c:strRef>
          </c:cat>
          <c:val>
            <c:numRef>
              <c:f>New_pivotTableandChart!$B$21:$B$36</c:f>
              <c:numCache>
                <c:formatCode>General</c:formatCode>
                <c:ptCount val="15"/>
                <c:pt idx="0">
                  <c:v>2.7705501618122987</c:v>
                </c:pt>
                <c:pt idx="1">
                  <c:v>3.5750000000000002</c:v>
                </c:pt>
                <c:pt idx="2">
                  <c:v>3.5750000000000002</c:v>
                </c:pt>
                <c:pt idx="3">
                  <c:v>3.6583333333333337</c:v>
                </c:pt>
                <c:pt idx="4">
                  <c:v>3.8466666666666667</c:v>
                </c:pt>
                <c:pt idx="5">
                  <c:v>3.87</c:v>
                </c:pt>
                <c:pt idx="6">
                  <c:v>4.011290322580642</c:v>
                </c:pt>
                <c:pt idx="7">
                  <c:v>4.0599999999999996</c:v>
                </c:pt>
                <c:pt idx="8">
                  <c:v>4.0999999999999996</c:v>
                </c:pt>
                <c:pt idx="9">
                  <c:v>4.2100000000000009</c:v>
                </c:pt>
                <c:pt idx="10">
                  <c:v>4.2333333333333352</c:v>
                </c:pt>
                <c:pt idx="11">
                  <c:v>4.2624999999999993</c:v>
                </c:pt>
                <c:pt idx="12">
                  <c:v>4.295238095238096</c:v>
                </c:pt>
                <c:pt idx="13">
                  <c:v>4.3</c:v>
                </c:pt>
                <c:pt idx="14">
                  <c:v>4.4681818181818187</c:v>
                </c:pt>
              </c:numCache>
            </c:numRef>
          </c:val>
          <c:extLst>
            <c:ext xmlns:c16="http://schemas.microsoft.com/office/drawing/2014/chart" uri="{C3380CC4-5D6E-409C-BE32-E72D297353CC}">
              <c16:uniqueId val="{00000000-2AC8-48EA-B460-B8FB7BDF2343}"/>
            </c:ext>
          </c:extLst>
        </c:ser>
        <c:dLbls>
          <c:dLblPos val="outEnd"/>
          <c:showLegendKey val="0"/>
          <c:showVal val="1"/>
          <c:showCatName val="0"/>
          <c:showSerName val="0"/>
          <c:showPercent val="0"/>
          <c:showBubbleSize val="0"/>
        </c:dLbls>
        <c:gapWidth val="182"/>
        <c:axId val="715934831"/>
        <c:axId val="715944431"/>
      </c:barChart>
      <c:catAx>
        <c:axId val="7159348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44431"/>
        <c:crosses val="autoZero"/>
        <c:auto val="1"/>
        <c:lblAlgn val="ctr"/>
        <c:lblOffset val="100"/>
        <c:noMultiLvlLbl val="0"/>
      </c:catAx>
      <c:valAx>
        <c:axId val="71594443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593483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Copy of Zomato_Data_1 (Recovered).xlsx]Sheet1!PivotTable9</c:name>
    <c:fmtId val="25"/>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cap="all" spc="50" baseline="0">
                <a:solidFill>
                  <a:srgbClr val="D82727">
                    <a:lumMod val="65000"/>
                    <a:lumOff val="35000"/>
                  </a:srgbClr>
                </a:solidFill>
                <a:latin typeface="+mn-lt"/>
                <a:ea typeface="+mn-ea"/>
                <a:cs typeface="+mn-cs"/>
              </a:defRPr>
            </a:pPr>
            <a:r>
              <a:rPr lang="en-US" sz="1400" b="0" i="0" u="none" strike="noStrike" kern="1200" spc="0" baseline="0" dirty="0">
                <a:solidFill>
                  <a:srgbClr val="D82727">
                    <a:lumMod val="65000"/>
                    <a:lumOff val="35000"/>
                  </a:srgbClr>
                </a:solidFill>
              </a:rPr>
              <a:t>Count</a:t>
            </a:r>
            <a:r>
              <a:rPr lang="en-US" sz="1400" b="1" i="0" u="none" strike="noStrike" kern="1200" baseline="0" dirty="0">
                <a:solidFill>
                  <a:srgbClr val="D82727"/>
                </a:solidFill>
              </a:rPr>
              <a:t> </a:t>
            </a:r>
            <a:r>
              <a:rPr lang="en-US" sz="1400" b="0" i="0" u="none" strike="noStrike" kern="1200" spc="0" baseline="0" dirty="0">
                <a:solidFill>
                  <a:srgbClr val="D82727">
                    <a:lumMod val="65000"/>
                    <a:lumOff val="35000"/>
                  </a:srgbClr>
                </a:solidFill>
              </a:rPr>
              <a:t>of</a:t>
            </a:r>
            <a:r>
              <a:rPr lang="en-US" sz="1400" b="1" i="0" u="none" strike="noStrike" kern="1200" baseline="0" dirty="0">
                <a:solidFill>
                  <a:srgbClr val="D82727"/>
                </a:solidFill>
              </a:rPr>
              <a:t> </a:t>
            </a:r>
            <a:r>
              <a:rPr lang="en-US" sz="1400" b="0" i="0" u="none" strike="noStrike" kern="1200" spc="0" baseline="0" dirty="0">
                <a:solidFill>
                  <a:srgbClr val="D82727">
                    <a:lumMod val="65000"/>
                    <a:lumOff val="35000"/>
                  </a:srgbClr>
                </a:solidFill>
              </a:rPr>
              <a:t>Restaurants VS. </a:t>
            </a:r>
            <a:r>
              <a:rPr lang="en-US" sz="1400" b="0" i="0" u="none" strike="noStrike" kern="1200" spc="0" baseline="0" dirty="0" err="1">
                <a:solidFill>
                  <a:srgbClr val="D82727">
                    <a:lumMod val="65000"/>
                    <a:lumOff val="35000"/>
                  </a:srgbClr>
                </a:solidFill>
              </a:rPr>
              <a:t>has_TABLe_</a:t>
            </a:r>
            <a:r>
              <a:rPr lang="en-US" sz="1400" b="0" i="0" u="none" strike="noStrike" kern="1200" spc="0" baseline="0" dirty="0" err="1">
                <a:solidFill>
                  <a:srgbClr val="D82727">
                    <a:lumMod val="65000"/>
                    <a:lumOff val="35000"/>
                  </a:srgbClr>
                </a:solidFill>
                <a:latin typeface="+mn-lt"/>
                <a:ea typeface="+mn-ea"/>
                <a:cs typeface="+mn-cs"/>
              </a:rPr>
              <a:t>BOOKING</a:t>
            </a:r>
            <a:endParaRPr lang="en-IN" sz="1400" b="0" i="0" u="none" strike="noStrike" kern="1200" spc="0" baseline="0" dirty="0">
              <a:solidFill>
                <a:srgbClr val="D82727">
                  <a:lumMod val="65000"/>
                  <a:lumOff val="35000"/>
                </a:srgbClr>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solidFill>
                  <a:srgbClr val="D82727">
                    <a:lumMod val="65000"/>
                    <a:lumOff val="35000"/>
                  </a:srgbClr>
                </a:solidFill>
              </a:defRPr>
            </a:pPr>
            <a:endParaRPr lang="en-IN" sz="1400" b="0"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cap="all" spc="50" baseline="0">
              <a:solidFill>
                <a:srgbClr val="D82727">
                  <a:lumMod val="65000"/>
                  <a:lumOff val="35000"/>
                </a:srgbClr>
              </a:solidFill>
              <a:latin typeface="+mn-lt"/>
              <a:ea typeface="+mn-ea"/>
              <a:cs typeface="+mn-cs"/>
            </a:defRPr>
          </a:pPr>
          <a:endParaRPr lang="en-IN"/>
        </a:p>
      </c:txPr>
    </c:title>
    <c:autoTitleDeleted val="0"/>
    <c:pivotFmts>
      <c:pivotFmt>
        <c:idx val="0"/>
        <c:dLbl>
          <c:idx val="0"/>
          <c:showLegendKey val="0"/>
          <c:showVal val="1"/>
          <c:showCatName val="0"/>
          <c:showSerName val="0"/>
          <c:showPercent val="1"/>
          <c:showBubbleSize val="0"/>
          <c:extLst>
            <c:ext xmlns:c15="http://schemas.microsoft.com/office/drawing/2012/chart" uri="{CE6537A1-D6FC-4f65-9D91-7224C49458BB}"/>
          </c:extLst>
        </c:dLbl>
      </c:pivotFmt>
      <c:pivotFmt>
        <c:idx val="1"/>
      </c:pivotFmt>
      <c:pivotFmt>
        <c:idx val="2"/>
      </c:pivotFmt>
      <c:pivotFmt>
        <c:idx val="3"/>
        <c:dLbl>
          <c:idx val="0"/>
          <c:showLegendKey val="0"/>
          <c:showVal val="1"/>
          <c:showCatName val="0"/>
          <c:showSerName val="0"/>
          <c:showPercent val="1"/>
          <c:showBubbleSize val="0"/>
          <c:extLst>
            <c:ext xmlns:c15="http://schemas.microsoft.com/office/drawing/2012/chart" uri="{CE6537A1-D6FC-4f65-9D91-7224C49458BB}"/>
          </c:extLst>
        </c:dLbl>
      </c:pivotFmt>
      <c:pivotFmt>
        <c:idx val="4"/>
      </c:pivotFmt>
      <c:pivotFmt>
        <c:idx val="5"/>
      </c:pivotFmt>
      <c:pivotFmt>
        <c:idx val="6"/>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7"/>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0"/>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3"/>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14"/>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11003861003861004"/>
          <c:y val="0.16786014955677711"/>
          <c:w val="0.7728646368405262"/>
          <c:h val="0.76518172342467061"/>
        </c:manualLayout>
      </c:layout>
      <c:doughnutChart>
        <c:varyColors val="1"/>
        <c:ser>
          <c:idx val="0"/>
          <c:order val="0"/>
          <c:tx>
            <c:strRef>
              <c:f>Sheet1!$C$115</c:f>
              <c:strCache>
                <c:ptCount val="1"/>
                <c:pt idx="0">
                  <c:v>Total</c:v>
                </c:pt>
              </c:strCache>
            </c:strRef>
          </c:tx>
          <c:dPt>
            <c:idx val="0"/>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1300-4BB7-8645-FEEB7F17D752}"/>
              </c:ext>
            </c:extLst>
          </c:dPt>
          <c:dPt>
            <c:idx val="1"/>
            <c:bubble3D val="0"/>
            <c:spPr>
              <a:solidFill>
                <a:schemeClr val="tx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1300-4BB7-8645-FEEB7F17D752}"/>
              </c:ext>
            </c:extLst>
          </c:dPt>
          <c:dLbls>
            <c:dLbl>
              <c:idx val="1"/>
              <c:layout>
                <c:manualLayout>
                  <c:x val="1.287001287001284E-2"/>
                  <c:y val="6.2893081761005998E-3"/>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300-4BB7-8645-FEEB7F17D752}"/>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Sheet1!$B$116:$B$118</c:f>
              <c:strCache>
                <c:ptCount val="2"/>
                <c:pt idx="0">
                  <c:v>No</c:v>
                </c:pt>
                <c:pt idx="1">
                  <c:v>Yes</c:v>
                </c:pt>
              </c:strCache>
            </c:strRef>
          </c:cat>
          <c:val>
            <c:numRef>
              <c:f>Sheet1!$C$116:$C$118</c:f>
              <c:numCache>
                <c:formatCode>General</c:formatCode>
                <c:ptCount val="2"/>
                <c:pt idx="0">
                  <c:v>8393</c:v>
                </c:pt>
                <c:pt idx="1">
                  <c:v>1158</c:v>
                </c:pt>
              </c:numCache>
            </c:numRef>
          </c:val>
          <c:extLst>
            <c:ext xmlns:c16="http://schemas.microsoft.com/office/drawing/2014/chart" uri="{C3380CC4-5D6E-409C-BE32-E72D297353CC}">
              <c16:uniqueId val="{00000004-1300-4BB7-8645-FEEB7F17D752}"/>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[Copy of Copy of Zomato_Data_1 (Recovered).xlsx]Sheet1!PivotTable5</c:name>
    <c:fmtId val="17"/>
  </c:pivotSource>
  <c:chart>
    <c:title>
      <c:tx>
        <c:rich>
          <a:bodyPr/>
          <a:lstStyle/>
          <a:p>
            <a:pPr>
              <a:defRPr/>
            </a:pPr>
            <a:r>
              <a:rPr lang="en-US" sz="1400" b="0" i="0" u="none" strike="noStrike" kern="1200" spc="0" baseline="0" dirty="0">
                <a:solidFill>
                  <a:srgbClr val="D82727">
                    <a:lumMod val="65000"/>
                    <a:lumOff val="35000"/>
                  </a:srgbClr>
                </a:solidFill>
                <a:latin typeface="+mn-lt"/>
                <a:ea typeface="+mn-ea"/>
                <a:cs typeface="+mn-cs"/>
              </a:rPr>
              <a:t>COUNT</a:t>
            </a:r>
            <a:r>
              <a:rPr lang="en-US" sz="1400" b="1" i="0" u="none" strike="noStrike" kern="1200" baseline="0" dirty="0">
                <a:solidFill>
                  <a:srgbClr val="D82727"/>
                </a:solidFill>
              </a:rPr>
              <a:t> </a:t>
            </a:r>
            <a:r>
              <a:rPr lang="en-US" sz="1400" b="0" i="0" u="none" strike="noStrike" kern="1200" spc="0" baseline="0" dirty="0">
                <a:solidFill>
                  <a:srgbClr val="D82727">
                    <a:lumMod val="65000"/>
                    <a:lumOff val="35000"/>
                  </a:srgbClr>
                </a:solidFill>
                <a:latin typeface="+mn-lt"/>
                <a:ea typeface="+mn-ea"/>
                <a:cs typeface="+mn-cs"/>
              </a:rPr>
              <a:t>OF</a:t>
            </a:r>
            <a:r>
              <a:rPr lang="en-US" sz="1400" b="1" i="0" u="none" strike="noStrike" kern="1200" baseline="0" dirty="0">
                <a:solidFill>
                  <a:srgbClr val="D82727"/>
                </a:solidFill>
              </a:rPr>
              <a:t> </a:t>
            </a:r>
            <a:r>
              <a:rPr lang="en-US" sz="1400" b="0" i="0" u="none" strike="noStrike" kern="1200" spc="0" baseline="0" dirty="0">
                <a:solidFill>
                  <a:srgbClr val="D82727">
                    <a:lumMod val="65000"/>
                    <a:lumOff val="35000"/>
                  </a:srgbClr>
                </a:solidFill>
                <a:latin typeface="+mn-lt"/>
                <a:ea typeface="+mn-ea"/>
                <a:cs typeface="+mn-cs"/>
              </a:rPr>
              <a:t>RESTAURANTS VS. HAS_ONLINE_DELIVERY</a:t>
            </a:r>
            <a:endParaRPr lang="en-IN" sz="1400" b="0" i="0" u="none" strike="noStrike" kern="1200" spc="0" baseline="0" dirty="0">
              <a:solidFill>
                <a:srgbClr val="D82727">
                  <a:lumMod val="65000"/>
                  <a:lumOff val="35000"/>
                </a:srgbClr>
              </a:solidFill>
              <a:latin typeface="+mn-lt"/>
              <a:ea typeface="+mn-ea"/>
              <a:cs typeface="+mn-cs"/>
            </a:endParaRPr>
          </a:p>
        </c:rich>
      </c:tx>
      <c:layout>
        <c:manualLayout>
          <c:xMode val="edge"/>
          <c:yMode val="edge"/>
          <c:x val="0.15279960280671753"/>
          <c:y val="1.0511887537702085E-2"/>
        </c:manualLayout>
      </c:layout>
      <c:overlay val="0"/>
    </c:title>
    <c:autoTitleDeleted val="0"/>
    <c:pivotFmts>
      <c:pivotFmt>
        <c:idx val="0"/>
        <c:dLbl>
          <c:idx val="0"/>
          <c:showLegendKey val="0"/>
          <c:showVal val="1"/>
          <c:showCatName val="0"/>
          <c:showSerName val="0"/>
          <c:showPercent val="1"/>
          <c:showBubbleSize val="0"/>
          <c:extLst>
            <c:ext xmlns:c15="http://schemas.microsoft.com/office/drawing/2012/chart" uri="{CE6537A1-D6FC-4f65-9D91-7224C49458BB}"/>
          </c:extLst>
        </c:dLbl>
      </c:pivotFmt>
      <c:pivotFmt>
        <c:idx val="1"/>
      </c:pivotFmt>
      <c:pivotFmt>
        <c:idx val="2"/>
      </c:pivotFmt>
      <c:pivotFmt>
        <c:idx val="3"/>
        <c:dLbl>
          <c:idx val="0"/>
          <c:showLegendKey val="0"/>
          <c:showVal val="1"/>
          <c:showCatName val="0"/>
          <c:showSerName val="0"/>
          <c:showPercent val="1"/>
          <c:showBubbleSize val="0"/>
          <c:extLst>
            <c:ext xmlns:c15="http://schemas.microsoft.com/office/drawing/2012/chart" uri="{CE6537A1-D6FC-4f65-9D91-7224C49458BB}"/>
          </c:extLst>
        </c:dLbl>
      </c:pivotFmt>
      <c:pivotFmt>
        <c:idx val="4"/>
      </c:pivotFmt>
      <c:pivotFmt>
        <c:idx val="5"/>
      </c:pivotFmt>
      <c:pivotFmt>
        <c:idx val="6"/>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7"/>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0"/>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3"/>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14"/>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5"/>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6"/>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8"/>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9"/>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20"/>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21"/>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22"/>
        <c:spPr>
          <a:solidFill>
            <a:srgbClr val="FF0000"/>
          </a:solidFill>
          <a:ln>
            <a:noFill/>
          </a:ln>
          <a:effectLst/>
          <a:scene3d>
            <a:camera prst="orthographicFront"/>
            <a:lightRig rig="brightRoom" dir="t"/>
          </a:scene3d>
          <a:sp3d prstMaterial="flat">
            <a:bevelT w="50800" h="101600" prst="angle"/>
            <a:contourClr>
              <a:srgbClr val="000000"/>
            </a:contourClr>
          </a:sp3d>
        </c:spPr>
      </c:pivotFmt>
      <c:pivotFmt>
        <c:idx val="23"/>
        <c:spPr>
          <a:solidFill>
            <a:schemeClr val="tx1"/>
          </a:solidFill>
          <a:ln>
            <a:noFill/>
          </a:ln>
          <a:effectLst/>
          <a:scene3d>
            <a:camera prst="orthographicFront"/>
            <a:lightRig rig="brightRoom" dir="t"/>
          </a:scene3d>
          <a:sp3d prstMaterial="flat">
            <a:bevelT w="50800" h="101600" prst="angle"/>
            <a:contourClr>
              <a:srgbClr val="000000"/>
            </a:contourClr>
          </a:sp3d>
        </c:spPr>
        <c:dLbl>
          <c:idx val="0"/>
          <c:layout>
            <c:manualLayout>
              <c:x val="1.287001287001284E-2"/>
              <c:y val="6.2893081761005998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11003861003861004"/>
          <c:y val="0.16786014955677711"/>
          <c:w val="0.81086595897106739"/>
          <c:h val="0.72637004934241389"/>
        </c:manualLayout>
      </c:layout>
      <c:doughnutChart>
        <c:varyColors val="1"/>
        <c:ser>
          <c:idx val="0"/>
          <c:order val="0"/>
          <c:tx>
            <c:strRef>
              <c:f>Sheet1!$C$109</c:f>
              <c:strCache>
                <c:ptCount val="1"/>
                <c:pt idx="0">
                  <c:v>Total</c:v>
                </c:pt>
              </c:strCache>
            </c:strRef>
          </c:tx>
          <c:dPt>
            <c:idx val="0"/>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7082-4E4A-935F-425D822F70D3}"/>
              </c:ext>
            </c:extLst>
          </c:dPt>
          <c:dPt>
            <c:idx val="1"/>
            <c:bubble3D val="0"/>
            <c:spPr>
              <a:solidFill>
                <a:schemeClr val="tx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7082-4E4A-935F-425D822F70D3}"/>
              </c:ext>
            </c:extLst>
          </c:dPt>
          <c:dLbls>
            <c:dLbl>
              <c:idx val="1"/>
              <c:layout>
                <c:manualLayout>
                  <c:x val="1.287001287001284E-2"/>
                  <c:y val="6.2893081761005998E-3"/>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082-4E4A-935F-425D822F70D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Sheet1!$B$110:$B$112</c:f>
              <c:strCache>
                <c:ptCount val="2"/>
                <c:pt idx="0">
                  <c:v>No</c:v>
                </c:pt>
                <c:pt idx="1">
                  <c:v>Yes</c:v>
                </c:pt>
              </c:strCache>
            </c:strRef>
          </c:cat>
          <c:val>
            <c:numRef>
              <c:f>Sheet1!$C$110:$C$112</c:f>
              <c:numCache>
                <c:formatCode>General</c:formatCode>
                <c:ptCount val="2"/>
                <c:pt idx="0">
                  <c:v>7100</c:v>
                </c:pt>
                <c:pt idx="1">
                  <c:v>2451</c:v>
                </c:pt>
              </c:numCache>
            </c:numRef>
          </c:val>
          <c:extLst>
            <c:ext xmlns:c16="http://schemas.microsoft.com/office/drawing/2014/chart" uri="{C3380CC4-5D6E-409C-BE32-E72D297353CC}">
              <c16:uniqueId val="{00000004-7082-4E4A-935F-425D822F70D3}"/>
            </c:ext>
          </c:extLst>
        </c:ser>
        <c:dLbls>
          <c:showLegendKey val="0"/>
          <c:showVal val="0"/>
          <c:showCatName val="0"/>
          <c:showSerName val="0"/>
          <c:showPercent val="1"/>
          <c:showBubbleSize val="0"/>
          <c:showLeaderLines val="1"/>
        </c:dLbls>
        <c:firstSliceAng val="0"/>
        <c:holeSize val="50"/>
      </c:doughnutChart>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84339e5801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84339e580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77a667ef0f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77a667ef0f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94450" y="2571750"/>
            <a:ext cx="9308100" cy="258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103225" y="2571750"/>
            <a:ext cx="8940900" cy="2481600"/>
            <a:chOff x="103225" y="2571750"/>
            <a:chExt cx="8940900" cy="2481600"/>
          </a:xfrm>
        </p:grpSpPr>
        <p:cxnSp>
          <p:nvCxnSpPr>
            <p:cNvPr id="12" name="Google Shape;12;p2"/>
            <p:cNvCxnSpPr/>
            <p:nvPr/>
          </p:nvCxnSpPr>
          <p:spPr>
            <a:xfrm>
              <a:off x="103225" y="2571750"/>
              <a:ext cx="0" cy="2481600"/>
            </a:xfrm>
            <a:prstGeom prst="straightConnector1">
              <a:avLst/>
            </a:prstGeom>
            <a:noFill/>
            <a:ln w="19050" cap="flat" cmpd="sng">
              <a:solidFill>
                <a:schemeClr val="lt1"/>
              </a:solidFill>
              <a:prstDash val="solid"/>
              <a:round/>
              <a:headEnd type="none" w="med" len="med"/>
              <a:tailEnd type="none" w="med" len="med"/>
            </a:ln>
          </p:spPr>
        </p:cxnSp>
        <p:cxnSp>
          <p:nvCxnSpPr>
            <p:cNvPr id="13" name="Google Shape;13;p2"/>
            <p:cNvCxnSpPr/>
            <p:nvPr/>
          </p:nvCxnSpPr>
          <p:spPr>
            <a:xfrm>
              <a:off x="9044125" y="2571750"/>
              <a:ext cx="0" cy="2481600"/>
            </a:xfrm>
            <a:prstGeom prst="straightConnector1">
              <a:avLst/>
            </a:prstGeom>
            <a:noFill/>
            <a:ln w="19050" cap="flat" cmpd="sng">
              <a:solidFill>
                <a:schemeClr val="lt1"/>
              </a:solidFill>
              <a:prstDash val="solid"/>
              <a:round/>
              <a:headEnd type="none" w="med" len="med"/>
              <a:tailEnd type="none" w="med" len="med"/>
            </a:ln>
          </p:spPr>
        </p:cxnSp>
        <p:cxnSp>
          <p:nvCxnSpPr>
            <p:cNvPr id="14" name="Google Shape;14;p2"/>
            <p:cNvCxnSpPr/>
            <p:nvPr/>
          </p:nvCxnSpPr>
          <p:spPr>
            <a:xfrm>
              <a:off x="103225" y="5053350"/>
              <a:ext cx="8940900" cy="0"/>
            </a:xfrm>
            <a:prstGeom prst="straightConnector1">
              <a:avLst/>
            </a:prstGeom>
            <a:noFill/>
            <a:ln w="19050" cap="flat" cmpd="sng">
              <a:solidFill>
                <a:schemeClr val="lt1"/>
              </a:solidFill>
              <a:prstDash val="solid"/>
              <a:round/>
              <a:headEnd type="none" w="med" len="med"/>
              <a:tailEnd type="none" w="med" len="med"/>
            </a:ln>
          </p:spPr>
        </p:cxnSp>
      </p:grpSp>
      <p:sp>
        <p:nvSpPr>
          <p:cNvPr id="15" name="Google Shape;15;p2"/>
          <p:cNvSpPr txBox="1"/>
          <p:nvPr/>
        </p:nvSpPr>
        <p:spPr>
          <a:xfrm>
            <a:off x="4697175" y="1320225"/>
            <a:ext cx="3616800" cy="17823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endParaRPr sz="6000">
              <a:latin typeface="Fira Sans Extra Condensed Medium"/>
              <a:ea typeface="Fira Sans Extra Condensed Medium"/>
              <a:cs typeface="Fira Sans Extra Condensed Medium"/>
              <a:sym typeface="Fira Sans Extra Condensed Medium"/>
            </a:endParaRPr>
          </a:p>
        </p:txBody>
      </p:sp>
      <p:sp>
        <p:nvSpPr>
          <p:cNvPr id="16" name="Google Shape;16;p2"/>
          <p:cNvSpPr txBox="1"/>
          <p:nvPr/>
        </p:nvSpPr>
        <p:spPr>
          <a:xfrm>
            <a:off x="5911825" y="2977800"/>
            <a:ext cx="2402100" cy="7170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endParaRPr sz="1200">
              <a:latin typeface="Roboto Slab Light"/>
              <a:ea typeface="Roboto Slab Light"/>
              <a:cs typeface="Roboto Slab Light"/>
              <a:sym typeface="Roboto Slab Light"/>
            </a:endParaRPr>
          </a:p>
        </p:txBody>
      </p:sp>
      <p:sp>
        <p:nvSpPr>
          <p:cNvPr id="17" name="Google Shape;17;p2"/>
          <p:cNvSpPr txBox="1">
            <a:spLocks noGrp="1"/>
          </p:cNvSpPr>
          <p:nvPr>
            <p:ph type="ctrTitle"/>
          </p:nvPr>
        </p:nvSpPr>
        <p:spPr>
          <a:xfrm>
            <a:off x="2194775" y="1457250"/>
            <a:ext cx="4754400" cy="222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a:endParaRPr/>
          </a:p>
        </p:txBody>
      </p:sp>
      <p:sp>
        <p:nvSpPr>
          <p:cNvPr id="18" name="Google Shape;18;p2"/>
          <p:cNvSpPr txBox="1">
            <a:spLocks noGrp="1"/>
          </p:cNvSpPr>
          <p:nvPr>
            <p:ph type="subTitle" idx="1"/>
          </p:nvPr>
        </p:nvSpPr>
        <p:spPr>
          <a:xfrm>
            <a:off x="2364775" y="3681600"/>
            <a:ext cx="4417800" cy="36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800"/>
              <a:buNone/>
              <a:defRPr>
                <a:solidFill>
                  <a:schemeClr val="lt1"/>
                </a:solidFill>
                <a:latin typeface="Overpass Light"/>
                <a:ea typeface="Overpass Light"/>
                <a:cs typeface="Overpass Light"/>
                <a:sym typeface="Overpass Light"/>
              </a:defRPr>
            </a:lvl1pPr>
            <a:lvl2pPr lvl="1" algn="r" rtl="0">
              <a:lnSpc>
                <a:spcPct val="100000"/>
              </a:lnSpc>
              <a:spcBef>
                <a:spcPts val="0"/>
              </a:spcBef>
              <a:spcAft>
                <a:spcPts val="0"/>
              </a:spcAft>
              <a:buClr>
                <a:srgbClr val="434343"/>
              </a:buClr>
              <a:buSzPts val="2800"/>
              <a:buNone/>
              <a:defRPr sz="2800">
                <a:solidFill>
                  <a:srgbClr val="434343"/>
                </a:solidFill>
              </a:defRPr>
            </a:lvl2pPr>
            <a:lvl3pPr lvl="2" algn="r" rtl="0">
              <a:lnSpc>
                <a:spcPct val="100000"/>
              </a:lnSpc>
              <a:spcBef>
                <a:spcPts val="0"/>
              </a:spcBef>
              <a:spcAft>
                <a:spcPts val="0"/>
              </a:spcAft>
              <a:buClr>
                <a:srgbClr val="434343"/>
              </a:buClr>
              <a:buSzPts val="2800"/>
              <a:buNone/>
              <a:defRPr sz="2800">
                <a:solidFill>
                  <a:srgbClr val="434343"/>
                </a:solidFill>
              </a:defRPr>
            </a:lvl3pPr>
            <a:lvl4pPr lvl="3" algn="r" rtl="0">
              <a:lnSpc>
                <a:spcPct val="100000"/>
              </a:lnSpc>
              <a:spcBef>
                <a:spcPts val="0"/>
              </a:spcBef>
              <a:spcAft>
                <a:spcPts val="0"/>
              </a:spcAft>
              <a:buClr>
                <a:srgbClr val="434343"/>
              </a:buClr>
              <a:buSzPts val="2800"/>
              <a:buNone/>
              <a:defRPr sz="2800">
                <a:solidFill>
                  <a:srgbClr val="434343"/>
                </a:solidFill>
              </a:defRPr>
            </a:lvl4pPr>
            <a:lvl5pPr lvl="4" algn="r" rtl="0">
              <a:lnSpc>
                <a:spcPct val="100000"/>
              </a:lnSpc>
              <a:spcBef>
                <a:spcPts val="0"/>
              </a:spcBef>
              <a:spcAft>
                <a:spcPts val="0"/>
              </a:spcAft>
              <a:buClr>
                <a:srgbClr val="434343"/>
              </a:buClr>
              <a:buSzPts val="2800"/>
              <a:buNone/>
              <a:defRPr sz="2800">
                <a:solidFill>
                  <a:srgbClr val="434343"/>
                </a:solidFill>
              </a:defRPr>
            </a:lvl5pPr>
            <a:lvl6pPr lvl="5" algn="r" rtl="0">
              <a:lnSpc>
                <a:spcPct val="100000"/>
              </a:lnSpc>
              <a:spcBef>
                <a:spcPts val="0"/>
              </a:spcBef>
              <a:spcAft>
                <a:spcPts val="0"/>
              </a:spcAft>
              <a:buClr>
                <a:srgbClr val="434343"/>
              </a:buClr>
              <a:buSzPts val="2800"/>
              <a:buNone/>
              <a:defRPr sz="2800">
                <a:solidFill>
                  <a:srgbClr val="434343"/>
                </a:solidFill>
              </a:defRPr>
            </a:lvl6pPr>
            <a:lvl7pPr lvl="6" algn="r" rtl="0">
              <a:lnSpc>
                <a:spcPct val="100000"/>
              </a:lnSpc>
              <a:spcBef>
                <a:spcPts val="0"/>
              </a:spcBef>
              <a:spcAft>
                <a:spcPts val="0"/>
              </a:spcAft>
              <a:buClr>
                <a:srgbClr val="434343"/>
              </a:buClr>
              <a:buSzPts val="2800"/>
              <a:buNone/>
              <a:defRPr sz="2800">
                <a:solidFill>
                  <a:srgbClr val="434343"/>
                </a:solidFill>
              </a:defRPr>
            </a:lvl7pPr>
            <a:lvl8pPr lvl="7" algn="r" rtl="0">
              <a:lnSpc>
                <a:spcPct val="100000"/>
              </a:lnSpc>
              <a:spcBef>
                <a:spcPts val="0"/>
              </a:spcBef>
              <a:spcAft>
                <a:spcPts val="0"/>
              </a:spcAft>
              <a:buClr>
                <a:srgbClr val="434343"/>
              </a:buClr>
              <a:buSzPts val="2800"/>
              <a:buNone/>
              <a:defRPr sz="2800">
                <a:solidFill>
                  <a:srgbClr val="434343"/>
                </a:solidFill>
              </a:defRPr>
            </a:lvl8pPr>
            <a:lvl9pPr lvl="8" algn="r" rtl="0">
              <a:lnSpc>
                <a:spcPct val="100000"/>
              </a:lnSpc>
              <a:spcBef>
                <a:spcPts val="0"/>
              </a:spcBef>
              <a:spcAft>
                <a:spcPts val="0"/>
              </a:spcAft>
              <a:buClr>
                <a:srgbClr val="434343"/>
              </a:buClr>
              <a:buSzPts val="2800"/>
              <a:buNone/>
              <a:defRPr sz="2800">
                <a:solidFill>
                  <a:srgbClr val="434343"/>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subTitle" idx="1"/>
          </p:nvPr>
        </p:nvSpPr>
        <p:spPr>
          <a:xfrm>
            <a:off x="4863950" y="22696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43" name="Google Shape;43;p7"/>
          <p:cNvSpPr txBox="1">
            <a:spLocks noGrp="1"/>
          </p:cNvSpPr>
          <p:nvPr>
            <p:ph type="title"/>
          </p:nvPr>
        </p:nvSpPr>
        <p:spPr>
          <a:xfrm>
            <a:off x="4863950" y="1696950"/>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7"/>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8"/>
          <p:cNvSpPr/>
          <p:nvPr/>
        </p:nvSpPr>
        <p:spPr>
          <a:xfrm>
            <a:off x="-152400" y="2736075"/>
            <a:ext cx="5080800" cy="213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 name="Google Shape;48;p8"/>
          <p:cNvCxnSpPr/>
          <p:nvPr/>
        </p:nvCxnSpPr>
        <p:spPr>
          <a:xfrm>
            <a:off x="101775" y="2736075"/>
            <a:ext cx="0" cy="2141400"/>
          </a:xfrm>
          <a:prstGeom prst="straightConnector1">
            <a:avLst/>
          </a:prstGeom>
          <a:noFill/>
          <a:ln w="19050" cap="flat" cmpd="sng">
            <a:solidFill>
              <a:schemeClr val="lt1"/>
            </a:solidFill>
            <a:prstDash val="solid"/>
            <a:round/>
            <a:headEnd type="none" w="med" len="med"/>
            <a:tailEnd type="none" w="med" len="med"/>
          </a:ln>
        </p:spPr>
      </p:cxnSp>
      <p:sp>
        <p:nvSpPr>
          <p:cNvPr id="49" name="Google Shape;49;p8"/>
          <p:cNvSpPr txBox="1">
            <a:spLocks noGrp="1"/>
          </p:cNvSpPr>
          <p:nvPr>
            <p:ph type="subTitle" idx="1"/>
          </p:nvPr>
        </p:nvSpPr>
        <p:spPr>
          <a:xfrm>
            <a:off x="2540075" y="4178025"/>
            <a:ext cx="2093100" cy="48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2pPr>
            <a:lvl3pPr lvl="2"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3pPr>
            <a:lvl4pPr lvl="3"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4pPr>
            <a:lvl5pPr lvl="4"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5pPr>
            <a:lvl6pPr lvl="5"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6pPr>
            <a:lvl7pPr lvl="6"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7pPr>
            <a:lvl8pPr lvl="7"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8pPr>
            <a:lvl9pPr lvl="8" rtl="0">
              <a:lnSpc>
                <a:spcPct val="100000"/>
              </a:lnSpc>
              <a:spcBef>
                <a:spcPts val="0"/>
              </a:spcBef>
              <a:spcAft>
                <a:spcPts val="0"/>
              </a:spcAft>
              <a:buNone/>
              <a:defRPr sz="1700">
                <a:solidFill>
                  <a:schemeClr val="lt1"/>
                </a:solidFill>
                <a:latin typeface="Overpass Light"/>
                <a:ea typeface="Overpass Light"/>
                <a:cs typeface="Overpass Light"/>
                <a:sym typeface="Overpass Light"/>
              </a:defRPr>
            </a:lvl9pPr>
          </a:lstStyle>
          <a:p>
            <a:endParaRPr/>
          </a:p>
        </p:txBody>
      </p:sp>
      <p:sp>
        <p:nvSpPr>
          <p:cNvPr id="50" name="Google Shape;50;p8"/>
          <p:cNvSpPr txBox="1">
            <a:spLocks noGrp="1"/>
          </p:cNvSpPr>
          <p:nvPr>
            <p:ph type="subTitle" idx="2"/>
          </p:nvPr>
        </p:nvSpPr>
        <p:spPr>
          <a:xfrm>
            <a:off x="713225" y="2984199"/>
            <a:ext cx="3858600" cy="1220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None/>
              <a:defRPr sz="1900" b="1">
                <a:solidFill>
                  <a:schemeClr val="lt1"/>
                </a:solidFill>
              </a:defRPr>
            </a:lvl1pPr>
            <a:lvl2pPr lvl="1">
              <a:lnSpc>
                <a:spcPct val="100000"/>
              </a:lnSpc>
              <a:spcBef>
                <a:spcPts val="0"/>
              </a:spcBef>
              <a:spcAft>
                <a:spcPts val="0"/>
              </a:spcAft>
              <a:buNone/>
              <a:defRPr sz="1900" b="1">
                <a:solidFill>
                  <a:schemeClr val="lt1"/>
                </a:solidFill>
              </a:defRPr>
            </a:lvl2pPr>
            <a:lvl3pPr lvl="2">
              <a:lnSpc>
                <a:spcPct val="100000"/>
              </a:lnSpc>
              <a:spcBef>
                <a:spcPts val="0"/>
              </a:spcBef>
              <a:spcAft>
                <a:spcPts val="0"/>
              </a:spcAft>
              <a:buNone/>
              <a:defRPr sz="1900" b="1">
                <a:solidFill>
                  <a:schemeClr val="lt1"/>
                </a:solidFill>
              </a:defRPr>
            </a:lvl3pPr>
            <a:lvl4pPr lvl="3">
              <a:lnSpc>
                <a:spcPct val="100000"/>
              </a:lnSpc>
              <a:spcBef>
                <a:spcPts val="0"/>
              </a:spcBef>
              <a:spcAft>
                <a:spcPts val="0"/>
              </a:spcAft>
              <a:buNone/>
              <a:defRPr sz="1900" b="1">
                <a:solidFill>
                  <a:schemeClr val="lt1"/>
                </a:solidFill>
              </a:defRPr>
            </a:lvl4pPr>
            <a:lvl5pPr lvl="4">
              <a:lnSpc>
                <a:spcPct val="100000"/>
              </a:lnSpc>
              <a:spcBef>
                <a:spcPts val="0"/>
              </a:spcBef>
              <a:spcAft>
                <a:spcPts val="0"/>
              </a:spcAft>
              <a:buNone/>
              <a:defRPr sz="1900" b="1">
                <a:solidFill>
                  <a:schemeClr val="lt1"/>
                </a:solidFill>
              </a:defRPr>
            </a:lvl5pPr>
            <a:lvl6pPr lvl="5">
              <a:lnSpc>
                <a:spcPct val="100000"/>
              </a:lnSpc>
              <a:spcBef>
                <a:spcPts val="0"/>
              </a:spcBef>
              <a:spcAft>
                <a:spcPts val="0"/>
              </a:spcAft>
              <a:buNone/>
              <a:defRPr sz="1900" b="1">
                <a:solidFill>
                  <a:schemeClr val="lt1"/>
                </a:solidFill>
              </a:defRPr>
            </a:lvl6pPr>
            <a:lvl7pPr lvl="6">
              <a:lnSpc>
                <a:spcPct val="100000"/>
              </a:lnSpc>
              <a:spcBef>
                <a:spcPts val="0"/>
              </a:spcBef>
              <a:spcAft>
                <a:spcPts val="0"/>
              </a:spcAft>
              <a:buNone/>
              <a:defRPr sz="1900" b="1">
                <a:solidFill>
                  <a:schemeClr val="lt1"/>
                </a:solidFill>
              </a:defRPr>
            </a:lvl7pPr>
            <a:lvl8pPr lvl="7">
              <a:lnSpc>
                <a:spcPct val="100000"/>
              </a:lnSpc>
              <a:spcBef>
                <a:spcPts val="0"/>
              </a:spcBef>
              <a:spcAft>
                <a:spcPts val="0"/>
              </a:spcAft>
              <a:buNone/>
              <a:defRPr sz="1900" b="1">
                <a:solidFill>
                  <a:schemeClr val="lt1"/>
                </a:solidFill>
              </a:defRPr>
            </a:lvl8pPr>
            <a:lvl9pPr lvl="8">
              <a:lnSpc>
                <a:spcPct val="100000"/>
              </a:lnSpc>
              <a:spcBef>
                <a:spcPts val="0"/>
              </a:spcBef>
              <a:spcAft>
                <a:spcPts val="0"/>
              </a:spcAft>
              <a:buNone/>
              <a:defRPr sz="1900" b="1">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9"/>
          <p:cNvSpPr/>
          <p:nvPr/>
        </p:nvSpPr>
        <p:spPr>
          <a:xfrm>
            <a:off x="-88225" y="840450"/>
            <a:ext cx="4198200" cy="113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53;p9"/>
          <p:cNvCxnSpPr/>
          <p:nvPr/>
        </p:nvCxnSpPr>
        <p:spPr>
          <a:xfrm>
            <a:off x="103800" y="840825"/>
            <a:ext cx="0" cy="1136700"/>
          </a:xfrm>
          <a:prstGeom prst="straightConnector1">
            <a:avLst/>
          </a:prstGeom>
          <a:noFill/>
          <a:ln w="19050" cap="flat" cmpd="sng">
            <a:solidFill>
              <a:schemeClr val="dk2"/>
            </a:solidFill>
            <a:prstDash val="solid"/>
            <a:round/>
            <a:headEnd type="none" w="med" len="med"/>
            <a:tailEnd type="none" w="med" len="med"/>
          </a:ln>
        </p:spPr>
      </p:cxnSp>
      <p:sp>
        <p:nvSpPr>
          <p:cNvPr id="54" name="Google Shape;54;p9"/>
          <p:cNvSpPr txBox="1">
            <a:spLocks noGrp="1"/>
          </p:cNvSpPr>
          <p:nvPr>
            <p:ph type="subTitle" idx="1"/>
          </p:nvPr>
        </p:nvSpPr>
        <p:spPr>
          <a:xfrm>
            <a:off x="4572000" y="7999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55" name="Google Shape;55;p9"/>
          <p:cNvSpPr txBox="1">
            <a:spLocks noGrp="1"/>
          </p:cNvSpPr>
          <p:nvPr>
            <p:ph type="title"/>
          </p:nvPr>
        </p:nvSpPr>
        <p:spPr>
          <a:xfrm>
            <a:off x="713225" y="1041931"/>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9"/>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sp>
        <p:nvSpPr>
          <p:cNvPr id="58" name="Google Shape;58;p10"/>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0"/>
          <p:cNvSpPr txBox="1">
            <a:spLocks noGrp="1"/>
          </p:cNvSpPr>
          <p:nvPr>
            <p:ph type="body" idx="1"/>
          </p:nvPr>
        </p:nvSpPr>
        <p:spPr>
          <a:xfrm>
            <a:off x="2285942" y="316339"/>
            <a:ext cx="4972800" cy="15294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sz="4500">
                <a:solidFill>
                  <a:schemeClr val="dk1"/>
                </a:solidFill>
                <a:latin typeface="Bebas Neue"/>
                <a:ea typeface="Bebas Neue"/>
                <a:cs typeface="Bebas Neue"/>
                <a:sym typeface="Bebas Neue"/>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2">
  <p:cSld name="TITLE_ONLY_3">
    <p:spTree>
      <p:nvGrpSpPr>
        <p:cNvPr id="1" name="Shape 158"/>
        <p:cNvGrpSpPr/>
        <p:nvPr/>
      </p:nvGrpSpPr>
      <p:grpSpPr>
        <a:xfrm>
          <a:off x="0" y="0"/>
          <a:ext cx="0" cy="0"/>
          <a:chOff x="0" y="0"/>
          <a:chExt cx="0" cy="0"/>
        </a:xfrm>
      </p:grpSpPr>
      <p:sp>
        <p:nvSpPr>
          <p:cNvPr id="159" name="Google Shape;159;p26"/>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6"/>
          <p:cNvSpPr/>
          <p:nvPr/>
        </p:nvSpPr>
        <p:spPr>
          <a:xfrm>
            <a:off x="3167950" y="1501134"/>
            <a:ext cx="5967900" cy="213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1" name="Google Shape;161;p26"/>
          <p:cNvSpPr txBox="1">
            <a:spLocks noGrp="1"/>
          </p:cNvSpPr>
          <p:nvPr>
            <p:ph type="title"/>
          </p:nvPr>
        </p:nvSpPr>
        <p:spPr>
          <a:xfrm>
            <a:off x="540600" y="1898400"/>
            <a:ext cx="2169300" cy="1346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2" name="Google Shape;162;p26"/>
          <p:cNvSpPr txBox="1">
            <a:spLocks noGrp="1"/>
          </p:cNvSpPr>
          <p:nvPr>
            <p:ph type="subTitle" idx="1"/>
          </p:nvPr>
        </p:nvSpPr>
        <p:spPr>
          <a:xfrm>
            <a:off x="4367289" y="2334485"/>
            <a:ext cx="877800" cy="27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algn="ctr" rtl="0">
              <a:lnSpc>
                <a:spcPct val="100000"/>
              </a:lnSpc>
              <a:spcBef>
                <a:spcPts val="0"/>
              </a:spcBef>
              <a:spcAft>
                <a:spcPts val="0"/>
              </a:spcAft>
              <a:buNone/>
              <a:defRPr sz="2200" b="1">
                <a:solidFill>
                  <a:schemeClr val="lt1"/>
                </a:solidFill>
                <a:latin typeface="Bebas Neue"/>
                <a:ea typeface="Bebas Neue"/>
                <a:cs typeface="Bebas Neue"/>
                <a:sym typeface="Bebas Neue"/>
              </a:defRPr>
            </a:lvl2pPr>
            <a:lvl3pPr lvl="2" algn="ctr" rtl="0">
              <a:lnSpc>
                <a:spcPct val="100000"/>
              </a:lnSpc>
              <a:spcBef>
                <a:spcPts val="0"/>
              </a:spcBef>
              <a:spcAft>
                <a:spcPts val="0"/>
              </a:spcAft>
              <a:buNone/>
              <a:defRPr sz="2200" b="1">
                <a:solidFill>
                  <a:schemeClr val="lt1"/>
                </a:solidFill>
                <a:latin typeface="Bebas Neue"/>
                <a:ea typeface="Bebas Neue"/>
                <a:cs typeface="Bebas Neue"/>
                <a:sym typeface="Bebas Neue"/>
              </a:defRPr>
            </a:lvl3pPr>
            <a:lvl4pPr lvl="3" algn="ctr" rtl="0">
              <a:lnSpc>
                <a:spcPct val="100000"/>
              </a:lnSpc>
              <a:spcBef>
                <a:spcPts val="0"/>
              </a:spcBef>
              <a:spcAft>
                <a:spcPts val="0"/>
              </a:spcAft>
              <a:buNone/>
              <a:defRPr sz="2200" b="1">
                <a:solidFill>
                  <a:schemeClr val="lt1"/>
                </a:solidFill>
                <a:latin typeface="Bebas Neue"/>
                <a:ea typeface="Bebas Neue"/>
                <a:cs typeface="Bebas Neue"/>
                <a:sym typeface="Bebas Neue"/>
              </a:defRPr>
            </a:lvl4pPr>
            <a:lvl5pPr lvl="4" algn="ctr" rtl="0">
              <a:lnSpc>
                <a:spcPct val="100000"/>
              </a:lnSpc>
              <a:spcBef>
                <a:spcPts val="0"/>
              </a:spcBef>
              <a:spcAft>
                <a:spcPts val="0"/>
              </a:spcAft>
              <a:buNone/>
              <a:defRPr sz="2200" b="1">
                <a:solidFill>
                  <a:schemeClr val="lt1"/>
                </a:solidFill>
                <a:latin typeface="Bebas Neue"/>
                <a:ea typeface="Bebas Neue"/>
                <a:cs typeface="Bebas Neue"/>
                <a:sym typeface="Bebas Neue"/>
              </a:defRPr>
            </a:lvl5pPr>
            <a:lvl6pPr lvl="5" algn="ctr" rtl="0">
              <a:lnSpc>
                <a:spcPct val="100000"/>
              </a:lnSpc>
              <a:spcBef>
                <a:spcPts val="0"/>
              </a:spcBef>
              <a:spcAft>
                <a:spcPts val="0"/>
              </a:spcAft>
              <a:buNone/>
              <a:defRPr sz="2200" b="1">
                <a:solidFill>
                  <a:schemeClr val="lt1"/>
                </a:solidFill>
                <a:latin typeface="Bebas Neue"/>
                <a:ea typeface="Bebas Neue"/>
                <a:cs typeface="Bebas Neue"/>
                <a:sym typeface="Bebas Neue"/>
              </a:defRPr>
            </a:lvl6pPr>
            <a:lvl7pPr lvl="6" algn="ctr" rtl="0">
              <a:lnSpc>
                <a:spcPct val="100000"/>
              </a:lnSpc>
              <a:spcBef>
                <a:spcPts val="0"/>
              </a:spcBef>
              <a:spcAft>
                <a:spcPts val="0"/>
              </a:spcAft>
              <a:buNone/>
              <a:defRPr sz="2200" b="1">
                <a:solidFill>
                  <a:schemeClr val="lt1"/>
                </a:solidFill>
                <a:latin typeface="Bebas Neue"/>
                <a:ea typeface="Bebas Neue"/>
                <a:cs typeface="Bebas Neue"/>
                <a:sym typeface="Bebas Neue"/>
              </a:defRPr>
            </a:lvl7pPr>
            <a:lvl8pPr lvl="7" algn="ctr" rtl="0">
              <a:lnSpc>
                <a:spcPct val="100000"/>
              </a:lnSpc>
              <a:spcBef>
                <a:spcPts val="0"/>
              </a:spcBef>
              <a:spcAft>
                <a:spcPts val="0"/>
              </a:spcAft>
              <a:buNone/>
              <a:defRPr sz="2200" b="1">
                <a:solidFill>
                  <a:schemeClr val="lt1"/>
                </a:solidFill>
                <a:latin typeface="Bebas Neue"/>
                <a:ea typeface="Bebas Neue"/>
                <a:cs typeface="Bebas Neue"/>
                <a:sym typeface="Bebas Neue"/>
              </a:defRPr>
            </a:lvl8pPr>
            <a:lvl9pPr lvl="8" algn="ctr" rtl="0">
              <a:lnSpc>
                <a:spcPct val="100000"/>
              </a:lnSpc>
              <a:spcBef>
                <a:spcPts val="0"/>
              </a:spcBef>
              <a:spcAft>
                <a:spcPts val="0"/>
              </a:spcAft>
              <a:buNone/>
              <a:defRPr sz="2200" b="1">
                <a:solidFill>
                  <a:schemeClr val="lt1"/>
                </a:solidFill>
                <a:latin typeface="Bebas Neue"/>
                <a:ea typeface="Bebas Neue"/>
                <a:cs typeface="Bebas Neue"/>
                <a:sym typeface="Bebas Neue"/>
              </a:defRPr>
            </a:lvl9pPr>
          </a:lstStyle>
          <a:p>
            <a:endParaRPr/>
          </a:p>
        </p:txBody>
      </p:sp>
      <p:sp>
        <p:nvSpPr>
          <p:cNvPr id="163" name="Google Shape;163;p26"/>
          <p:cNvSpPr txBox="1">
            <a:spLocks noGrp="1"/>
          </p:cNvSpPr>
          <p:nvPr>
            <p:ph type="subTitle" idx="2"/>
          </p:nvPr>
        </p:nvSpPr>
        <p:spPr>
          <a:xfrm>
            <a:off x="3868989" y="2707169"/>
            <a:ext cx="1874400" cy="47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500">
                <a:solidFill>
                  <a:schemeClr val="lt1"/>
                </a:solidFill>
              </a:defRPr>
            </a:lvl1pPr>
            <a:lvl2pPr lvl="1" algn="ctr" rtl="0">
              <a:lnSpc>
                <a:spcPct val="100000"/>
              </a:lnSpc>
              <a:spcBef>
                <a:spcPts val="0"/>
              </a:spcBef>
              <a:spcAft>
                <a:spcPts val="0"/>
              </a:spcAft>
              <a:buNone/>
              <a:defRPr sz="1500">
                <a:solidFill>
                  <a:schemeClr val="lt1"/>
                </a:solidFill>
              </a:defRPr>
            </a:lvl2pPr>
            <a:lvl3pPr lvl="2" algn="ctr" rtl="0">
              <a:lnSpc>
                <a:spcPct val="100000"/>
              </a:lnSpc>
              <a:spcBef>
                <a:spcPts val="0"/>
              </a:spcBef>
              <a:spcAft>
                <a:spcPts val="0"/>
              </a:spcAft>
              <a:buNone/>
              <a:defRPr sz="1500">
                <a:solidFill>
                  <a:schemeClr val="lt1"/>
                </a:solidFill>
              </a:defRPr>
            </a:lvl3pPr>
            <a:lvl4pPr lvl="3" algn="ctr" rtl="0">
              <a:lnSpc>
                <a:spcPct val="100000"/>
              </a:lnSpc>
              <a:spcBef>
                <a:spcPts val="0"/>
              </a:spcBef>
              <a:spcAft>
                <a:spcPts val="0"/>
              </a:spcAft>
              <a:buNone/>
              <a:defRPr sz="1500">
                <a:solidFill>
                  <a:schemeClr val="lt1"/>
                </a:solidFill>
              </a:defRPr>
            </a:lvl4pPr>
            <a:lvl5pPr lvl="4" algn="ctr" rtl="0">
              <a:lnSpc>
                <a:spcPct val="100000"/>
              </a:lnSpc>
              <a:spcBef>
                <a:spcPts val="0"/>
              </a:spcBef>
              <a:spcAft>
                <a:spcPts val="0"/>
              </a:spcAft>
              <a:buNone/>
              <a:defRPr sz="1500">
                <a:solidFill>
                  <a:schemeClr val="lt1"/>
                </a:solidFill>
              </a:defRPr>
            </a:lvl5pPr>
            <a:lvl6pPr lvl="5" algn="ctr" rtl="0">
              <a:lnSpc>
                <a:spcPct val="100000"/>
              </a:lnSpc>
              <a:spcBef>
                <a:spcPts val="0"/>
              </a:spcBef>
              <a:spcAft>
                <a:spcPts val="0"/>
              </a:spcAft>
              <a:buNone/>
              <a:defRPr sz="1500">
                <a:solidFill>
                  <a:schemeClr val="lt1"/>
                </a:solidFill>
              </a:defRPr>
            </a:lvl6pPr>
            <a:lvl7pPr lvl="6" algn="ctr" rtl="0">
              <a:lnSpc>
                <a:spcPct val="100000"/>
              </a:lnSpc>
              <a:spcBef>
                <a:spcPts val="0"/>
              </a:spcBef>
              <a:spcAft>
                <a:spcPts val="0"/>
              </a:spcAft>
              <a:buNone/>
              <a:defRPr sz="1500">
                <a:solidFill>
                  <a:schemeClr val="lt1"/>
                </a:solidFill>
              </a:defRPr>
            </a:lvl7pPr>
            <a:lvl8pPr lvl="7" algn="ctr" rtl="0">
              <a:lnSpc>
                <a:spcPct val="100000"/>
              </a:lnSpc>
              <a:spcBef>
                <a:spcPts val="0"/>
              </a:spcBef>
              <a:spcAft>
                <a:spcPts val="0"/>
              </a:spcAft>
              <a:buNone/>
              <a:defRPr sz="1500">
                <a:solidFill>
                  <a:schemeClr val="lt1"/>
                </a:solidFill>
              </a:defRPr>
            </a:lvl8pPr>
            <a:lvl9pPr lvl="8" algn="ctr" rtl="0">
              <a:lnSpc>
                <a:spcPct val="100000"/>
              </a:lnSpc>
              <a:spcBef>
                <a:spcPts val="0"/>
              </a:spcBef>
              <a:spcAft>
                <a:spcPts val="0"/>
              </a:spcAft>
              <a:buNone/>
              <a:defRPr sz="1500">
                <a:solidFill>
                  <a:schemeClr val="lt1"/>
                </a:solidFill>
              </a:defRPr>
            </a:lvl9pPr>
          </a:lstStyle>
          <a:p>
            <a:endParaRPr/>
          </a:p>
        </p:txBody>
      </p:sp>
      <p:sp>
        <p:nvSpPr>
          <p:cNvPr id="164" name="Google Shape;164;p26"/>
          <p:cNvSpPr txBox="1">
            <a:spLocks noGrp="1"/>
          </p:cNvSpPr>
          <p:nvPr>
            <p:ph type="subTitle" idx="3"/>
          </p:nvPr>
        </p:nvSpPr>
        <p:spPr>
          <a:xfrm>
            <a:off x="6574025" y="2334485"/>
            <a:ext cx="877800" cy="27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algn="ctr"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algn="ctr"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algn="ctr"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algn="ctr"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algn="ctr"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algn="ctr"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algn="ctr"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algn="ctr"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165" name="Google Shape;165;p26"/>
          <p:cNvSpPr txBox="1">
            <a:spLocks noGrp="1"/>
          </p:cNvSpPr>
          <p:nvPr>
            <p:ph type="subTitle" idx="4"/>
          </p:nvPr>
        </p:nvSpPr>
        <p:spPr>
          <a:xfrm>
            <a:off x="6075725" y="2707169"/>
            <a:ext cx="1874400" cy="472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500">
                <a:solidFill>
                  <a:schemeClr val="lt1"/>
                </a:solidFill>
              </a:defRPr>
            </a:lvl1pPr>
            <a:lvl2pPr lvl="1" algn="ctr" rtl="0">
              <a:lnSpc>
                <a:spcPct val="100000"/>
              </a:lnSpc>
              <a:spcBef>
                <a:spcPts val="0"/>
              </a:spcBef>
              <a:spcAft>
                <a:spcPts val="0"/>
              </a:spcAft>
              <a:buNone/>
              <a:defRPr sz="1500">
                <a:solidFill>
                  <a:schemeClr val="lt1"/>
                </a:solidFill>
              </a:defRPr>
            </a:lvl2pPr>
            <a:lvl3pPr lvl="2" algn="ctr" rtl="0">
              <a:lnSpc>
                <a:spcPct val="100000"/>
              </a:lnSpc>
              <a:spcBef>
                <a:spcPts val="0"/>
              </a:spcBef>
              <a:spcAft>
                <a:spcPts val="0"/>
              </a:spcAft>
              <a:buNone/>
              <a:defRPr sz="1500">
                <a:solidFill>
                  <a:schemeClr val="lt1"/>
                </a:solidFill>
              </a:defRPr>
            </a:lvl3pPr>
            <a:lvl4pPr lvl="3" algn="ctr" rtl="0">
              <a:lnSpc>
                <a:spcPct val="100000"/>
              </a:lnSpc>
              <a:spcBef>
                <a:spcPts val="0"/>
              </a:spcBef>
              <a:spcAft>
                <a:spcPts val="0"/>
              </a:spcAft>
              <a:buNone/>
              <a:defRPr sz="1500">
                <a:solidFill>
                  <a:schemeClr val="lt1"/>
                </a:solidFill>
              </a:defRPr>
            </a:lvl4pPr>
            <a:lvl5pPr lvl="4" algn="ctr" rtl="0">
              <a:lnSpc>
                <a:spcPct val="100000"/>
              </a:lnSpc>
              <a:spcBef>
                <a:spcPts val="0"/>
              </a:spcBef>
              <a:spcAft>
                <a:spcPts val="0"/>
              </a:spcAft>
              <a:buNone/>
              <a:defRPr sz="1500">
                <a:solidFill>
                  <a:schemeClr val="lt1"/>
                </a:solidFill>
              </a:defRPr>
            </a:lvl5pPr>
            <a:lvl6pPr lvl="5" algn="ctr" rtl="0">
              <a:lnSpc>
                <a:spcPct val="100000"/>
              </a:lnSpc>
              <a:spcBef>
                <a:spcPts val="0"/>
              </a:spcBef>
              <a:spcAft>
                <a:spcPts val="0"/>
              </a:spcAft>
              <a:buNone/>
              <a:defRPr sz="1500">
                <a:solidFill>
                  <a:schemeClr val="lt1"/>
                </a:solidFill>
              </a:defRPr>
            </a:lvl6pPr>
            <a:lvl7pPr lvl="6" algn="ctr" rtl="0">
              <a:lnSpc>
                <a:spcPct val="100000"/>
              </a:lnSpc>
              <a:spcBef>
                <a:spcPts val="0"/>
              </a:spcBef>
              <a:spcAft>
                <a:spcPts val="0"/>
              </a:spcAft>
              <a:buNone/>
              <a:defRPr sz="1500">
                <a:solidFill>
                  <a:schemeClr val="lt1"/>
                </a:solidFill>
              </a:defRPr>
            </a:lvl7pPr>
            <a:lvl8pPr lvl="7" algn="ctr" rtl="0">
              <a:lnSpc>
                <a:spcPct val="100000"/>
              </a:lnSpc>
              <a:spcBef>
                <a:spcPts val="0"/>
              </a:spcBef>
              <a:spcAft>
                <a:spcPts val="0"/>
              </a:spcAft>
              <a:buNone/>
              <a:defRPr sz="1500">
                <a:solidFill>
                  <a:schemeClr val="lt1"/>
                </a:solidFill>
              </a:defRPr>
            </a:lvl8pPr>
            <a:lvl9pPr lvl="8" algn="ctr" rtl="0">
              <a:lnSpc>
                <a:spcPct val="100000"/>
              </a:lnSpc>
              <a:spcBef>
                <a:spcPts val="0"/>
              </a:spcBef>
              <a:spcAft>
                <a:spcPts val="0"/>
              </a:spcAft>
              <a:buNone/>
              <a:defRPr sz="1500">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2">
  <p:cSld name="CUSTOM_1">
    <p:spTree>
      <p:nvGrpSpPr>
        <p:cNvPr id="1" name="Shape 274"/>
        <p:cNvGrpSpPr/>
        <p:nvPr/>
      </p:nvGrpSpPr>
      <p:grpSpPr>
        <a:xfrm>
          <a:off x="0" y="0"/>
          <a:ext cx="0" cy="0"/>
          <a:chOff x="0" y="0"/>
          <a:chExt cx="0" cy="0"/>
        </a:xfrm>
      </p:grpSpPr>
      <p:sp>
        <p:nvSpPr>
          <p:cNvPr id="275" name="Google Shape;275;p45"/>
          <p:cNvSpPr/>
          <p:nvPr/>
        </p:nvSpPr>
        <p:spPr>
          <a:xfrm>
            <a:off x="2766683" y="357561"/>
            <a:ext cx="5559600" cy="4489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6" name="Google Shape;276;p45"/>
          <p:cNvSpPr txBox="1">
            <a:spLocks noGrp="1"/>
          </p:cNvSpPr>
          <p:nvPr>
            <p:ph type="subTitle" idx="1"/>
          </p:nvPr>
        </p:nvSpPr>
        <p:spPr>
          <a:xfrm>
            <a:off x="3845043" y="1000523"/>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77" name="Google Shape;277;p45"/>
          <p:cNvSpPr txBox="1">
            <a:spLocks noGrp="1"/>
          </p:cNvSpPr>
          <p:nvPr>
            <p:ph type="subTitle" idx="2"/>
          </p:nvPr>
        </p:nvSpPr>
        <p:spPr>
          <a:xfrm>
            <a:off x="3845043" y="1263389"/>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78" name="Google Shape;278;p45"/>
          <p:cNvSpPr txBox="1">
            <a:spLocks noGrp="1"/>
          </p:cNvSpPr>
          <p:nvPr>
            <p:ph type="subTitle" idx="3"/>
          </p:nvPr>
        </p:nvSpPr>
        <p:spPr>
          <a:xfrm>
            <a:off x="3845043" y="3088289"/>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79" name="Google Shape;279;p45"/>
          <p:cNvSpPr txBox="1">
            <a:spLocks noGrp="1"/>
          </p:cNvSpPr>
          <p:nvPr>
            <p:ph type="subTitle" idx="4"/>
          </p:nvPr>
        </p:nvSpPr>
        <p:spPr>
          <a:xfrm>
            <a:off x="6411818" y="1263378"/>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0" name="Google Shape;280;p45"/>
          <p:cNvSpPr txBox="1">
            <a:spLocks noGrp="1"/>
          </p:cNvSpPr>
          <p:nvPr>
            <p:ph type="subTitle" idx="5"/>
          </p:nvPr>
        </p:nvSpPr>
        <p:spPr>
          <a:xfrm>
            <a:off x="6411068" y="999173"/>
            <a:ext cx="1629000" cy="22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81" name="Google Shape;281;p45"/>
          <p:cNvSpPr txBox="1">
            <a:spLocks noGrp="1"/>
          </p:cNvSpPr>
          <p:nvPr>
            <p:ph type="subTitle" idx="6"/>
          </p:nvPr>
        </p:nvSpPr>
        <p:spPr>
          <a:xfrm>
            <a:off x="3845043" y="3350418"/>
            <a:ext cx="1649400" cy="87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2" name="Google Shape;282;p45"/>
          <p:cNvSpPr txBox="1">
            <a:spLocks noGrp="1"/>
          </p:cNvSpPr>
          <p:nvPr>
            <p:ph type="subTitle" idx="7"/>
          </p:nvPr>
        </p:nvSpPr>
        <p:spPr>
          <a:xfrm>
            <a:off x="6411818" y="3088289"/>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83" name="Google Shape;283;p45"/>
          <p:cNvSpPr txBox="1">
            <a:spLocks noGrp="1"/>
          </p:cNvSpPr>
          <p:nvPr>
            <p:ph type="subTitle" idx="8"/>
          </p:nvPr>
        </p:nvSpPr>
        <p:spPr>
          <a:xfrm>
            <a:off x="6411818" y="3351760"/>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4" name="Google Shape;284;p45"/>
          <p:cNvSpPr txBox="1">
            <a:spLocks noGrp="1"/>
          </p:cNvSpPr>
          <p:nvPr>
            <p:ph type="title"/>
          </p:nvPr>
        </p:nvSpPr>
        <p:spPr>
          <a:xfrm>
            <a:off x="696450" y="1555800"/>
            <a:ext cx="1857600" cy="2031900"/>
          </a:xfrm>
          <a:prstGeom prst="rect">
            <a:avLst/>
          </a:prstGeom>
        </p:spPr>
        <p:txBody>
          <a:bodyPr spcFirstLastPara="1" wrap="square" lIns="91425" tIns="91425" rIns="91425" bIns="91425" anchor="ctr"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5" name="Google Shape;285;p45"/>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 6">
  <p:cSld name="CUSTOM_2_3">
    <p:spTree>
      <p:nvGrpSpPr>
        <p:cNvPr id="1" name="Shape 352"/>
        <p:cNvGrpSpPr/>
        <p:nvPr/>
      </p:nvGrpSpPr>
      <p:grpSpPr>
        <a:xfrm>
          <a:off x="0" y="0"/>
          <a:ext cx="0" cy="0"/>
          <a:chOff x="0" y="0"/>
          <a:chExt cx="0" cy="0"/>
        </a:xfrm>
      </p:grpSpPr>
      <p:sp>
        <p:nvSpPr>
          <p:cNvPr id="353" name="Google Shape;353;p52"/>
          <p:cNvSpPr/>
          <p:nvPr/>
        </p:nvSpPr>
        <p:spPr>
          <a:xfrm rot="-5400000">
            <a:off x="5197775" y="524950"/>
            <a:ext cx="3474300" cy="45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4" name="Google Shape;354;p52"/>
          <p:cNvSpPr txBox="1">
            <a:spLocks noGrp="1"/>
          </p:cNvSpPr>
          <p:nvPr>
            <p:ph type="subTitle" idx="1"/>
          </p:nvPr>
        </p:nvSpPr>
        <p:spPr>
          <a:xfrm>
            <a:off x="5374550" y="3049276"/>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355" name="Google Shape;355;p52"/>
          <p:cNvSpPr txBox="1">
            <a:spLocks noGrp="1"/>
          </p:cNvSpPr>
          <p:nvPr>
            <p:ph type="subTitle" idx="2"/>
          </p:nvPr>
        </p:nvSpPr>
        <p:spPr>
          <a:xfrm>
            <a:off x="5096250" y="3419674"/>
            <a:ext cx="1536300" cy="64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356" name="Google Shape;356;p52"/>
          <p:cNvSpPr txBox="1">
            <a:spLocks noGrp="1"/>
          </p:cNvSpPr>
          <p:nvPr>
            <p:ph type="subTitle" idx="3"/>
          </p:nvPr>
        </p:nvSpPr>
        <p:spPr>
          <a:xfrm>
            <a:off x="7070388" y="3049276"/>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357" name="Google Shape;357;p52"/>
          <p:cNvSpPr txBox="1">
            <a:spLocks noGrp="1"/>
          </p:cNvSpPr>
          <p:nvPr>
            <p:ph type="subTitle" idx="4"/>
          </p:nvPr>
        </p:nvSpPr>
        <p:spPr>
          <a:xfrm>
            <a:off x="6781652" y="3401875"/>
            <a:ext cx="1536300" cy="64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358" name="Google Shape;358;p52"/>
          <p:cNvSpPr txBox="1">
            <a:spLocks noGrp="1"/>
          </p:cNvSpPr>
          <p:nvPr>
            <p:ph type="subTitle" idx="5"/>
          </p:nvPr>
        </p:nvSpPr>
        <p:spPr>
          <a:xfrm>
            <a:off x="7085058" y="1694435"/>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359" name="Google Shape;359;p52"/>
          <p:cNvSpPr txBox="1">
            <a:spLocks noGrp="1"/>
          </p:cNvSpPr>
          <p:nvPr>
            <p:ph type="subTitle" idx="6"/>
          </p:nvPr>
        </p:nvSpPr>
        <p:spPr>
          <a:xfrm>
            <a:off x="5096252" y="2064834"/>
            <a:ext cx="1536300" cy="64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360" name="Google Shape;360;p52"/>
          <p:cNvSpPr txBox="1">
            <a:spLocks noGrp="1"/>
          </p:cNvSpPr>
          <p:nvPr>
            <p:ph type="subTitle" idx="7"/>
          </p:nvPr>
        </p:nvSpPr>
        <p:spPr>
          <a:xfrm>
            <a:off x="5387408" y="1694424"/>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361" name="Google Shape;361;p52"/>
          <p:cNvSpPr txBox="1">
            <a:spLocks noGrp="1"/>
          </p:cNvSpPr>
          <p:nvPr>
            <p:ph type="subTitle" idx="8"/>
          </p:nvPr>
        </p:nvSpPr>
        <p:spPr>
          <a:xfrm>
            <a:off x="6794721" y="2064830"/>
            <a:ext cx="1532100" cy="64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362" name="Google Shape;362;p52"/>
          <p:cNvSpPr txBox="1">
            <a:spLocks noGrp="1"/>
          </p:cNvSpPr>
          <p:nvPr>
            <p:ph type="title"/>
          </p:nvPr>
        </p:nvSpPr>
        <p:spPr>
          <a:xfrm>
            <a:off x="725525" y="442700"/>
            <a:ext cx="2832600" cy="59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3" name="Google Shape;363;p52"/>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4" name="Google Shape;364;p52"/>
          <p:cNvCxnSpPr/>
          <p:nvPr/>
        </p:nvCxnSpPr>
        <p:spPr>
          <a:xfrm>
            <a:off x="9045300" y="1089550"/>
            <a:ext cx="0" cy="346980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2_1_1_1_1">
    <p:bg>
      <p:bgPr>
        <a:solidFill>
          <a:schemeClr val="dk1"/>
        </a:solidFill>
        <a:effectLst/>
      </p:bgPr>
    </p:bg>
    <p:spTree>
      <p:nvGrpSpPr>
        <p:cNvPr id="1" name="Shape 439"/>
        <p:cNvGrpSpPr/>
        <p:nvPr/>
      </p:nvGrpSpPr>
      <p:grpSpPr>
        <a:xfrm>
          <a:off x="0" y="0"/>
          <a:ext cx="0" cy="0"/>
          <a:chOff x="0" y="0"/>
          <a:chExt cx="0" cy="0"/>
        </a:xfrm>
      </p:grpSpPr>
      <p:sp>
        <p:nvSpPr>
          <p:cNvPr id="440" name="Google Shape;440;p60"/>
          <p:cNvSpPr/>
          <p:nvPr/>
        </p:nvSpPr>
        <p:spPr>
          <a:xfrm>
            <a:off x="101550" y="106200"/>
            <a:ext cx="8940900" cy="49311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2_2_1_1">
    <p:spTree>
      <p:nvGrpSpPr>
        <p:cNvPr id="1" name="Shape 441"/>
        <p:cNvGrpSpPr/>
        <p:nvPr/>
      </p:nvGrpSpPr>
      <p:grpSpPr>
        <a:xfrm>
          <a:off x="0" y="0"/>
          <a:ext cx="0" cy="0"/>
          <a:chOff x="0" y="0"/>
          <a:chExt cx="0" cy="0"/>
        </a:xfrm>
      </p:grpSpPr>
      <p:sp>
        <p:nvSpPr>
          <p:cNvPr id="442" name="Google Shape;442;p61"/>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1"/>
          <p:cNvSpPr txBox="1">
            <a:spLocks noGrp="1"/>
          </p:cNvSpPr>
          <p:nvPr>
            <p:ph type="subTitle" idx="1"/>
          </p:nvPr>
        </p:nvSpPr>
        <p:spPr>
          <a:xfrm>
            <a:off x="2844037" y="1738336"/>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444" name="Google Shape;444;p61"/>
          <p:cNvSpPr txBox="1">
            <a:spLocks noGrp="1"/>
          </p:cNvSpPr>
          <p:nvPr>
            <p:ph type="subTitle" idx="2"/>
          </p:nvPr>
        </p:nvSpPr>
        <p:spPr>
          <a:xfrm>
            <a:off x="766875" y="2110195"/>
            <a:ext cx="1380600" cy="43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445" name="Google Shape;445;p61"/>
          <p:cNvSpPr txBox="1">
            <a:spLocks noGrp="1"/>
          </p:cNvSpPr>
          <p:nvPr>
            <p:ph type="subTitle" idx="3"/>
          </p:nvPr>
        </p:nvSpPr>
        <p:spPr>
          <a:xfrm>
            <a:off x="766887" y="1738347"/>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446" name="Google Shape;446;p61"/>
          <p:cNvSpPr txBox="1">
            <a:spLocks noGrp="1"/>
          </p:cNvSpPr>
          <p:nvPr>
            <p:ph type="subTitle" idx="4"/>
          </p:nvPr>
        </p:nvSpPr>
        <p:spPr>
          <a:xfrm>
            <a:off x="2844025" y="2109968"/>
            <a:ext cx="1380600" cy="43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447" name="Google Shape;447;p61"/>
          <p:cNvSpPr txBox="1">
            <a:spLocks noGrp="1"/>
          </p:cNvSpPr>
          <p:nvPr>
            <p:ph type="subTitle" idx="5"/>
          </p:nvPr>
        </p:nvSpPr>
        <p:spPr>
          <a:xfrm>
            <a:off x="4919363" y="1738346"/>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448" name="Google Shape;448;p61"/>
          <p:cNvSpPr txBox="1">
            <a:spLocks noGrp="1"/>
          </p:cNvSpPr>
          <p:nvPr>
            <p:ph type="subTitle" idx="6"/>
          </p:nvPr>
        </p:nvSpPr>
        <p:spPr>
          <a:xfrm>
            <a:off x="6996513" y="2107626"/>
            <a:ext cx="1380600" cy="43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
        <p:nvSpPr>
          <p:cNvPr id="449" name="Google Shape;449;p61"/>
          <p:cNvSpPr txBox="1">
            <a:spLocks noGrp="1"/>
          </p:cNvSpPr>
          <p:nvPr>
            <p:ph type="subTitle" idx="7"/>
          </p:nvPr>
        </p:nvSpPr>
        <p:spPr>
          <a:xfrm>
            <a:off x="6996513" y="1738336"/>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450" name="Google Shape;450;p61"/>
          <p:cNvSpPr txBox="1">
            <a:spLocks noGrp="1"/>
          </p:cNvSpPr>
          <p:nvPr>
            <p:ph type="subTitle" idx="8"/>
          </p:nvPr>
        </p:nvSpPr>
        <p:spPr>
          <a:xfrm>
            <a:off x="4919363" y="2109457"/>
            <a:ext cx="1380600" cy="43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4300"/>
              <a:buFont typeface="Bebas Neue"/>
              <a:buNone/>
              <a:defRPr sz="4300" b="1">
                <a:solidFill>
                  <a:schemeClr val="dk1"/>
                </a:solidFill>
                <a:latin typeface="Bebas Neue"/>
                <a:ea typeface="Bebas Neue"/>
                <a:cs typeface="Bebas Neue"/>
                <a:sym typeface="Bebas Neu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6234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verpass"/>
              <a:buChar char="●"/>
              <a:defRPr sz="1800">
                <a:solidFill>
                  <a:schemeClr val="dk1"/>
                </a:solidFill>
                <a:latin typeface="Overpass"/>
                <a:ea typeface="Overpass"/>
                <a:cs typeface="Overpass"/>
                <a:sym typeface="Overpass"/>
              </a:defRPr>
            </a:lvl1pPr>
            <a:lvl2pPr marL="914400" lvl="1"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2pPr>
            <a:lvl3pPr marL="1371600" lvl="2"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3pPr>
            <a:lvl4pPr marL="1828800" lvl="3"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4pPr>
            <a:lvl5pPr marL="2286000" lvl="4"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5pPr>
            <a:lvl6pPr marL="2743200" lvl="5"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6pPr>
            <a:lvl7pPr marL="3200400" lvl="6"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7pPr>
            <a:lvl8pPr marL="3657600" lvl="7"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8pPr>
            <a:lvl9pPr marL="4114800" lvl="8" indent="-317500">
              <a:lnSpc>
                <a:spcPct val="115000"/>
              </a:lnSpc>
              <a:spcBef>
                <a:spcPts val="1600"/>
              </a:spcBef>
              <a:spcAft>
                <a:spcPts val="1600"/>
              </a:spcAft>
              <a:buClr>
                <a:schemeClr val="dk1"/>
              </a:buClr>
              <a:buSzPts val="1400"/>
              <a:buFont typeface="Overpass"/>
              <a:buChar char="■"/>
              <a:defRPr>
                <a:solidFill>
                  <a:schemeClr val="dk1"/>
                </a:solidFill>
                <a:latin typeface="Overpass"/>
                <a:ea typeface="Overpass"/>
                <a:cs typeface="Overpass"/>
                <a:sym typeface="Overpas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8" r:id="rId6"/>
    <p:sldLayoutId id="2147483672" r:id="rId7"/>
    <p:sldLayoutId id="2147483691" r:id="rId8"/>
    <p:sldLayoutId id="2147483698" r:id="rId9"/>
    <p:sldLayoutId id="2147483706" r:id="rId10"/>
    <p:sldLayoutId id="2147483707" r:id="rId11"/>
  </p:sldLayoutIdLst>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ctrTitle"/>
          </p:nvPr>
        </p:nvSpPr>
        <p:spPr>
          <a:xfrm>
            <a:off x="1777331" y="2106607"/>
            <a:ext cx="5438477" cy="2229000"/>
          </a:xfrm>
          <a:prstGeom prst="rect">
            <a:avLst/>
          </a:prstGeom>
        </p:spPr>
        <p:txBody>
          <a:bodyPr spcFirstLastPara="1" wrap="square" lIns="91425" tIns="91425" rIns="91425" bIns="91425" anchor="ctr" anchorCtr="0">
            <a:noAutofit/>
          </a:bodyPr>
          <a:lstStyle/>
          <a:p>
            <a:pPr lvl="0">
              <a:buSzPts val="1100"/>
            </a:pPr>
            <a:r>
              <a:rPr lang="en-US" dirty="0" err="1"/>
              <a:t>zomato</a:t>
            </a:r>
            <a:br>
              <a:rPr lang="en-IN" dirty="0">
                <a:solidFill>
                  <a:schemeClr val="lt1"/>
                </a:solidFill>
              </a:rPr>
            </a:br>
            <a:r>
              <a:rPr lang="en-IN" dirty="0">
                <a:solidFill>
                  <a:schemeClr val="lt1"/>
                </a:solidFill>
              </a:rPr>
              <a:t>R</a:t>
            </a:r>
            <a:r>
              <a:rPr lang="en" dirty="0">
                <a:solidFill>
                  <a:schemeClr val="lt1"/>
                </a:solidFill>
              </a:rPr>
              <a:t>estaurant analysis</a:t>
            </a:r>
            <a:endParaRPr dirty="0">
              <a:solidFill>
                <a:schemeClr val="lt1"/>
              </a:solidFill>
            </a:endParaRPr>
          </a:p>
        </p:txBody>
      </p:sp>
      <p:sp>
        <p:nvSpPr>
          <p:cNvPr id="2" name="TextBox 1">
            <a:extLst>
              <a:ext uri="{FF2B5EF4-FFF2-40B4-BE49-F238E27FC236}">
                <a16:creationId xmlns:a16="http://schemas.microsoft.com/office/drawing/2014/main" id="{83E887C4-DD2F-AB62-94CE-CBB7607CD691}"/>
              </a:ext>
            </a:extLst>
          </p:cNvPr>
          <p:cNvSpPr txBox="1"/>
          <p:nvPr/>
        </p:nvSpPr>
        <p:spPr>
          <a:xfrm>
            <a:off x="6891130" y="4015409"/>
            <a:ext cx="2252869" cy="646331"/>
          </a:xfrm>
          <a:prstGeom prst="rect">
            <a:avLst/>
          </a:prstGeom>
          <a:noFill/>
        </p:spPr>
        <p:txBody>
          <a:bodyPr wrap="square" rtlCol="0">
            <a:spAutoFit/>
          </a:bodyPr>
          <a:lstStyle/>
          <a:p>
            <a:r>
              <a:rPr lang="en-US" sz="1800" dirty="0">
                <a:solidFill>
                  <a:schemeClr val="bg1"/>
                </a:solidFill>
                <a:latin typeface="Overpass Light" panose="020B0604020202020204" charset="0"/>
              </a:rPr>
              <a:t>Mohit Rahangdale</a:t>
            </a:r>
          </a:p>
          <a:p>
            <a:r>
              <a:rPr lang="en-US" sz="1800" dirty="0">
                <a:solidFill>
                  <a:schemeClr val="bg1"/>
                </a:solidFill>
                <a:latin typeface="Overpass Light" panose="020B0604020202020204" charset="0"/>
              </a:rPr>
              <a:t>27-01-2026</a:t>
            </a:r>
            <a:endParaRPr lang="en-IN" sz="1800" dirty="0">
              <a:solidFill>
                <a:schemeClr val="bg1"/>
              </a:solidFill>
              <a:latin typeface="Overpass Light"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0"/>
                                        </p:tgtEl>
                                        <p:attrNameLst>
                                          <p:attrName>style.visibility</p:attrName>
                                        </p:attrNameLst>
                                      </p:cBhvr>
                                      <p:to>
                                        <p:strVal val="visible"/>
                                      </p:to>
                                    </p:set>
                                    <p:animEffect transition="in" filter="fade">
                                      <p:cBhvr>
                                        <p:cTn id="7" dur="1000"/>
                                        <p:tgtEl>
                                          <p:spTgt spid="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70"/>
          <p:cNvSpPr txBox="1">
            <a:spLocks noGrp="1"/>
          </p:cNvSpPr>
          <p:nvPr>
            <p:ph type="subTitle" idx="1"/>
          </p:nvPr>
        </p:nvSpPr>
        <p:spPr>
          <a:xfrm>
            <a:off x="4863950" y="1875182"/>
            <a:ext cx="3566700" cy="2551044"/>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 dirty="0"/>
              <a:t>It is India’s biggest online food ordering and delivering platform founded.</a:t>
            </a:r>
          </a:p>
          <a:p>
            <a:pPr marL="285750" lvl="0" indent="-285750" algn="l" rtl="0">
              <a:spcBef>
                <a:spcPts val="0"/>
              </a:spcBef>
              <a:spcAft>
                <a:spcPts val="0"/>
              </a:spcAft>
              <a:buFont typeface="Arial" panose="020B0604020202020204" pitchFamily="34" charset="0"/>
              <a:buChar char="•"/>
            </a:pPr>
            <a:r>
              <a:rPr lang="en-IN" dirty="0"/>
              <a:t>I</a:t>
            </a:r>
            <a:r>
              <a:rPr lang="en" dirty="0"/>
              <a:t>t provides different restaurants across the country and various cuisines.</a:t>
            </a:r>
          </a:p>
          <a:p>
            <a:pPr marL="285750" lvl="0" indent="-285750" algn="l" rtl="0">
              <a:spcBef>
                <a:spcPts val="0"/>
              </a:spcBef>
              <a:spcAft>
                <a:spcPts val="0"/>
              </a:spcAft>
              <a:buFont typeface="Arial" panose="020B0604020202020204" pitchFamily="34" charset="0"/>
              <a:buChar char="•"/>
            </a:pPr>
            <a:r>
              <a:rPr lang="en" dirty="0"/>
              <a:t>The aim is to pointout which cuisines and locations have higher customer satisfaction.</a:t>
            </a:r>
            <a:endParaRPr dirty="0"/>
          </a:p>
        </p:txBody>
      </p:sp>
      <p:sp>
        <p:nvSpPr>
          <p:cNvPr id="530" name="Google Shape;530;p70"/>
          <p:cNvSpPr txBox="1">
            <a:spLocks noGrp="1"/>
          </p:cNvSpPr>
          <p:nvPr>
            <p:ph type="title"/>
          </p:nvPr>
        </p:nvSpPr>
        <p:spPr>
          <a:xfrm>
            <a:off x="4730300" y="1007168"/>
            <a:ext cx="383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ABOUT ZOMATO</a:t>
            </a:r>
            <a:endParaRPr dirty="0"/>
          </a:p>
        </p:txBody>
      </p:sp>
      <p:cxnSp>
        <p:nvCxnSpPr>
          <p:cNvPr id="532" name="Google Shape;532;p70"/>
          <p:cNvCxnSpPr/>
          <p:nvPr/>
        </p:nvCxnSpPr>
        <p:spPr>
          <a:xfrm rot="10800000">
            <a:off x="102075" y="108900"/>
            <a:ext cx="0" cy="4919700"/>
          </a:xfrm>
          <a:prstGeom prst="straightConnector1">
            <a:avLst/>
          </a:prstGeom>
          <a:noFill/>
          <a:ln w="19050" cap="flat" cmpd="sng">
            <a:solidFill>
              <a:schemeClr val="lt1"/>
            </a:solidFill>
            <a:prstDash val="solid"/>
            <a:round/>
            <a:headEnd type="none" w="med" len="med"/>
            <a:tailEnd type="none" w="med" len="med"/>
          </a:ln>
        </p:spPr>
      </p:cxnSp>
      <p:cxnSp>
        <p:nvCxnSpPr>
          <p:cNvPr id="533" name="Google Shape;533;p70"/>
          <p:cNvCxnSpPr/>
          <p:nvPr/>
        </p:nvCxnSpPr>
        <p:spPr>
          <a:xfrm rot="10800000">
            <a:off x="90450" y="5036375"/>
            <a:ext cx="4473000" cy="0"/>
          </a:xfrm>
          <a:prstGeom prst="straightConnector1">
            <a:avLst/>
          </a:prstGeom>
          <a:noFill/>
          <a:ln w="19050" cap="flat" cmpd="sng">
            <a:solidFill>
              <a:schemeClr val="lt1"/>
            </a:solidFill>
            <a:prstDash val="solid"/>
            <a:round/>
            <a:headEnd type="none" w="med" len="med"/>
            <a:tailEnd type="none" w="med" len="med"/>
          </a:ln>
        </p:spPr>
      </p:cxnSp>
      <p:cxnSp>
        <p:nvCxnSpPr>
          <p:cNvPr id="534" name="Google Shape;534;p70"/>
          <p:cNvCxnSpPr/>
          <p:nvPr/>
        </p:nvCxnSpPr>
        <p:spPr>
          <a:xfrm rot="10800000">
            <a:off x="90450" y="101275"/>
            <a:ext cx="4473000" cy="0"/>
          </a:xfrm>
          <a:prstGeom prst="straightConnector1">
            <a:avLst/>
          </a:prstGeom>
          <a:noFill/>
          <a:ln w="19050" cap="flat" cmpd="sng">
            <a:solidFill>
              <a:schemeClr val="lt1"/>
            </a:solidFill>
            <a:prstDash val="solid"/>
            <a:round/>
            <a:headEnd type="none" w="med" len="med"/>
            <a:tailEnd type="none" w="med" len="med"/>
          </a:ln>
        </p:spPr>
      </p:cxnSp>
      <p:pic>
        <p:nvPicPr>
          <p:cNvPr id="1026" name="Picture 2">
            <a:extLst>
              <a:ext uri="{FF2B5EF4-FFF2-40B4-BE49-F238E27FC236}">
                <a16:creationId xmlns:a16="http://schemas.microsoft.com/office/drawing/2014/main" id="{A5D91106-C581-9F5E-1A54-02AE1C924B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4" y="1007168"/>
            <a:ext cx="4026950" cy="3306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9"/>
                                        </p:tgtEl>
                                        <p:attrNameLst>
                                          <p:attrName>style.visibility</p:attrName>
                                        </p:attrNameLst>
                                      </p:cBhvr>
                                      <p:to>
                                        <p:strVal val="visible"/>
                                      </p:to>
                                    </p:set>
                                    <p:animEffect transition="in" filter="fade">
                                      <p:cBhvr>
                                        <p:cTn id="7" dur="1000"/>
                                        <p:tgtEl>
                                          <p:spTgt spid="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DD4C717-4AF2-529D-3011-AF799416460B}"/>
              </a:ext>
            </a:extLst>
          </p:cNvPr>
          <p:cNvSpPr>
            <a:spLocks noGrp="1"/>
          </p:cNvSpPr>
          <p:nvPr>
            <p:ph type="subTitle" idx="1"/>
          </p:nvPr>
        </p:nvSpPr>
        <p:spPr>
          <a:xfrm>
            <a:off x="-271670" y="2842591"/>
            <a:ext cx="4797287" cy="1856409"/>
          </a:xfrm>
        </p:spPr>
        <p:txBody>
          <a:bodyPr/>
          <a:lstStyle/>
          <a:p>
            <a:r>
              <a:rPr lang="en-US" sz="1800" dirty="0"/>
              <a:t>	You are hired as a consultant data analyst by Zomato where the team is looking for expansion and opening more restaurants. Your task is to develop strategies/suggestions for opening newer restaurants.</a:t>
            </a:r>
            <a:endParaRPr lang="en-IN" sz="1800" dirty="0"/>
          </a:p>
        </p:txBody>
      </p:sp>
      <p:sp>
        <p:nvSpPr>
          <p:cNvPr id="3" name="Title 2">
            <a:extLst>
              <a:ext uri="{FF2B5EF4-FFF2-40B4-BE49-F238E27FC236}">
                <a16:creationId xmlns:a16="http://schemas.microsoft.com/office/drawing/2014/main" id="{44AEF562-704D-4B1A-A336-830C26B07B99}"/>
              </a:ext>
            </a:extLst>
          </p:cNvPr>
          <p:cNvSpPr>
            <a:spLocks noGrp="1"/>
          </p:cNvSpPr>
          <p:nvPr>
            <p:ph type="title" idx="4294967295"/>
          </p:nvPr>
        </p:nvSpPr>
        <p:spPr>
          <a:xfrm>
            <a:off x="0" y="444500"/>
            <a:ext cx="3835400" cy="573088"/>
          </a:xfrm>
        </p:spPr>
        <p:txBody>
          <a:bodyPr/>
          <a:lstStyle/>
          <a:p>
            <a:r>
              <a:rPr lang="en-US" sz="3500" dirty="0"/>
              <a:t>Problem Statement</a:t>
            </a:r>
            <a:endParaRPr lang="en-IN" sz="3500" dirty="0"/>
          </a:p>
        </p:txBody>
      </p:sp>
    </p:spTree>
    <p:extLst>
      <p:ext uri="{BB962C8B-B14F-4D97-AF65-F5344CB8AC3E}">
        <p14:creationId xmlns:p14="http://schemas.microsoft.com/office/powerpoint/2010/main" val="50067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9AF94-CC7F-789B-D0A3-E2FB93D6DD52}"/>
              </a:ext>
            </a:extLst>
          </p:cNvPr>
          <p:cNvSpPr>
            <a:spLocks noGrp="1"/>
          </p:cNvSpPr>
          <p:nvPr>
            <p:ph type="title"/>
          </p:nvPr>
        </p:nvSpPr>
        <p:spPr/>
        <p:txBody>
          <a:bodyPr/>
          <a:lstStyle/>
          <a:p>
            <a:r>
              <a:rPr lang="en-US" sz="3500" dirty="0"/>
              <a:t>Data overview</a:t>
            </a:r>
            <a:endParaRPr lang="en-IN" sz="3500" dirty="0"/>
          </a:p>
        </p:txBody>
      </p:sp>
      <p:sp>
        <p:nvSpPr>
          <p:cNvPr id="3" name="Google Shape;529;p70">
            <a:extLst>
              <a:ext uri="{FF2B5EF4-FFF2-40B4-BE49-F238E27FC236}">
                <a16:creationId xmlns:a16="http://schemas.microsoft.com/office/drawing/2014/main" id="{BBC6F419-BC85-C57B-F0B5-D3E17308A907}"/>
              </a:ext>
            </a:extLst>
          </p:cNvPr>
          <p:cNvSpPr txBox="1">
            <a:spLocks/>
          </p:cNvSpPr>
          <p:nvPr/>
        </p:nvSpPr>
        <p:spPr>
          <a:xfrm>
            <a:off x="4488313" y="503583"/>
            <a:ext cx="4112866" cy="419248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Total Countries: 15</a:t>
            </a:r>
            <a:endParaRPr lang="en-IN" dirty="0"/>
          </a:p>
          <a:p>
            <a:pPr marL="285750" indent="-285750">
              <a:buFont typeface="Arial" panose="020B0604020202020204" pitchFamily="34" charset="0"/>
              <a:buChar char="•"/>
            </a:pPr>
            <a:r>
              <a:rPr lang="en-US" dirty="0"/>
              <a:t>Average Rating: 2.89</a:t>
            </a:r>
            <a:endParaRPr lang="en-IN" dirty="0"/>
          </a:p>
          <a:p>
            <a:pPr marL="285750" indent="-285750">
              <a:buFont typeface="Arial" panose="020B0604020202020204" pitchFamily="34" charset="0"/>
              <a:buChar char="•"/>
            </a:pPr>
            <a:r>
              <a:rPr lang="en-US" dirty="0"/>
              <a:t>Total Restaurants: 9551</a:t>
            </a:r>
            <a:endParaRPr lang="en-IN" dirty="0"/>
          </a:p>
          <a:p>
            <a:pPr marL="285750" indent="-285750">
              <a:buFont typeface="Arial" panose="020B0604020202020204" pitchFamily="34" charset="0"/>
              <a:buChar char="•"/>
            </a:pPr>
            <a:r>
              <a:rPr lang="en-US" dirty="0"/>
              <a:t>Total Votes: 1498645</a:t>
            </a:r>
          </a:p>
          <a:p>
            <a:pPr marL="285750" indent="-285750">
              <a:buFont typeface="Arial" panose="020B0604020202020204" pitchFamily="34" charset="0"/>
              <a:buChar char="•"/>
            </a:pPr>
            <a:r>
              <a:rPr lang="en-US" dirty="0"/>
              <a:t>Tables: 2 (Raw Data, Country Description)</a:t>
            </a:r>
          </a:p>
          <a:p>
            <a:pPr marL="285750" indent="-285750">
              <a:buFont typeface="Arial" panose="020B0604020202020204" pitchFamily="34" charset="0"/>
              <a:buChar char="•"/>
            </a:pPr>
            <a:r>
              <a:rPr lang="en-US" dirty="0"/>
              <a:t>Attributes: 21</a:t>
            </a:r>
          </a:p>
          <a:p>
            <a:pPr marL="285750" indent="-285750">
              <a:buFont typeface="Arial" panose="020B0604020202020204" pitchFamily="34" charset="0"/>
              <a:buChar char="•"/>
            </a:pPr>
            <a:r>
              <a:rPr lang="en-US" dirty="0"/>
              <a:t>Restaurant Data: </a:t>
            </a:r>
            <a:r>
              <a:rPr lang="en-US" dirty="0" err="1"/>
              <a:t>LocalityVerbose</a:t>
            </a:r>
            <a:r>
              <a:rPr lang="en-US" dirty="0"/>
              <a:t>, City, Address</a:t>
            </a:r>
          </a:p>
          <a:p>
            <a:pPr marL="285750" indent="-285750">
              <a:buFont typeface="Arial" panose="020B0604020202020204" pitchFamily="34" charset="0"/>
              <a:buChar char="•"/>
            </a:pPr>
            <a:r>
              <a:rPr lang="en-US" dirty="0"/>
              <a:t>Customer Engagement Data: Ratings, Votes</a:t>
            </a:r>
          </a:p>
          <a:p>
            <a:pPr marL="285750" indent="-285750">
              <a:buFont typeface="Arial" panose="020B0604020202020204" pitchFamily="34" charset="0"/>
              <a:buChar char="•"/>
            </a:pPr>
            <a:r>
              <a:rPr lang="en-US" dirty="0"/>
              <a:t>Scope: 9551 restaurants across countries.</a:t>
            </a:r>
          </a:p>
          <a:p>
            <a:pPr marL="285750" indent="-285750">
              <a:buFont typeface="Arial" panose="020B0604020202020204" pitchFamily="34" charset="0"/>
              <a:buChar char="•"/>
            </a:pPr>
            <a:r>
              <a:rPr lang="en-US" dirty="0"/>
              <a:t>Operational Data: Online delivery, Table Booking</a:t>
            </a:r>
          </a:p>
        </p:txBody>
      </p:sp>
    </p:spTree>
    <p:extLst>
      <p:ext uri="{BB962C8B-B14F-4D97-AF65-F5344CB8AC3E}">
        <p14:creationId xmlns:p14="http://schemas.microsoft.com/office/powerpoint/2010/main" val="269960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A9FB46-3B85-1E63-A183-C3F5950FC606}"/>
              </a:ext>
            </a:extLst>
          </p:cNvPr>
          <p:cNvSpPr>
            <a:spLocks noGrp="1"/>
          </p:cNvSpPr>
          <p:nvPr>
            <p:ph type="title"/>
          </p:nvPr>
        </p:nvSpPr>
        <p:spPr/>
        <p:txBody>
          <a:bodyPr/>
          <a:lstStyle/>
          <a:p>
            <a:r>
              <a:rPr lang="en-US" dirty="0"/>
              <a:t>methodology</a:t>
            </a:r>
            <a:endParaRPr lang="en-IN" dirty="0"/>
          </a:p>
        </p:txBody>
      </p:sp>
      <p:sp>
        <p:nvSpPr>
          <p:cNvPr id="13" name="Google Shape;539;p71">
            <a:extLst>
              <a:ext uri="{FF2B5EF4-FFF2-40B4-BE49-F238E27FC236}">
                <a16:creationId xmlns:a16="http://schemas.microsoft.com/office/drawing/2014/main" id="{2B7B19EF-C1B5-5D43-5532-1E71875E3E06}"/>
              </a:ext>
            </a:extLst>
          </p:cNvPr>
          <p:cNvSpPr txBox="1">
            <a:spLocks/>
          </p:cNvSpPr>
          <p:nvPr/>
        </p:nvSpPr>
        <p:spPr>
          <a:xfrm>
            <a:off x="79514" y="1970804"/>
            <a:ext cx="9064486" cy="331304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Data Integration: Created a dataset of 9,551 restaurants across 15 countries with restaurant locations and service types.</a:t>
            </a:r>
          </a:p>
          <a:p>
            <a:pPr marL="285750" indent="-285750">
              <a:buFont typeface="Arial" panose="020B0604020202020204" pitchFamily="34" charset="0"/>
              <a:buChar char="•"/>
            </a:pPr>
            <a:r>
              <a:rPr lang="en-US" dirty="0"/>
              <a:t>Currency Normalization: A table has been created to normalize data on 'Average Cost for Two' to a standard INR currency to compare it worldwide.</a:t>
            </a:r>
          </a:p>
          <a:p>
            <a:pPr marL="285750" indent="-285750">
              <a:buFont typeface="Arial" panose="020B0604020202020204" pitchFamily="34" charset="0"/>
              <a:buChar char="•"/>
            </a:pPr>
            <a:r>
              <a:rPr lang="en-US" dirty="0"/>
              <a:t>Pre-processing: Clean the data by extracting the year and month values from the date keys.</a:t>
            </a:r>
          </a:p>
          <a:p>
            <a:pPr marL="285750" indent="-285750">
              <a:buFont typeface="Arial" panose="020B0604020202020204" pitchFamily="34" charset="0"/>
              <a:buChar char="•"/>
            </a:pPr>
            <a:r>
              <a:rPr lang="en-US" dirty="0"/>
              <a:t>Aggregation: Used Pivot Tables in order to calculate general performance like overall average rating, which is approximately 2.89, out of total votes of around 1.5 million.</a:t>
            </a:r>
          </a:p>
          <a:p>
            <a:pPr marL="285750" indent="-285750">
              <a:buFont typeface="Arial" panose="020B0604020202020204" pitchFamily="34" charset="0"/>
              <a:buChar char="•"/>
            </a:pPr>
            <a:r>
              <a:rPr lang="en-US" dirty="0"/>
              <a:t>Visualization: Created a dynamic dashboard with key performance indicators, geographical bar charts, and pie charts in visualizing delivery tendencies and favorite cuisines.</a:t>
            </a:r>
          </a:p>
          <a:p>
            <a:pPr marL="285750" indent="-285750">
              <a:buFont typeface="Arial" panose="020B0604020202020204" pitchFamily="34" charset="0"/>
              <a:buChar char="•"/>
            </a:pPr>
            <a:endParaRPr lang="en-US" sz="800" dirty="0"/>
          </a:p>
        </p:txBody>
      </p:sp>
    </p:spTree>
    <p:extLst>
      <p:ext uri="{BB962C8B-B14F-4D97-AF65-F5344CB8AC3E}">
        <p14:creationId xmlns:p14="http://schemas.microsoft.com/office/powerpoint/2010/main" val="170551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FA1A54-7A38-9AC0-3CC2-85D7165D2A9B}"/>
              </a:ext>
            </a:extLst>
          </p:cNvPr>
          <p:cNvSpPr>
            <a:spLocks noGrp="1"/>
          </p:cNvSpPr>
          <p:nvPr>
            <p:ph type="title"/>
          </p:nvPr>
        </p:nvSpPr>
        <p:spPr>
          <a:xfrm>
            <a:off x="5062732" y="848036"/>
            <a:ext cx="3834000" cy="1114382"/>
          </a:xfrm>
        </p:spPr>
        <p:txBody>
          <a:bodyPr/>
          <a:lstStyle/>
          <a:p>
            <a:r>
              <a:rPr lang="en-US" dirty="0"/>
              <a:t>Growth trajectory</a:t>
            </a:r>
            <a:endParaRPr lang="en-IN" dirty="0"/>
          </a:p>
        </p:txBody>
      </p:sp>
      <p:sp>
        <p:nvSpPr>
          <p:cNvPr id="4" name="Google Shape;529;p70">
            <a:extLst>
              <a:ext uri="{FF2B5EF4-FFF2-40B4-BE49-F238E27FC236}">
                <a16:creationId xmlns:a16="http://schemas.microsoft.com/office/drawing/2014/main" id="{5690AE73-357A-56EE-B493-DFC0265D57F5}"/>
              </a:ext>
            </a:extLst>
          </p:cNvPr>
          <p:cNvSpPr txBox="1">
            <a:spLocks/>
          </p:cNvSpPr>
          <p:nvPr/>
        </p:nvSpPr>
        <p:spPr>
          <a:xfrm>
            <a:off x="5062731" y="1770744"/>
            <a:ext cx="3454057" cy="241424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There is a steady growth from 2010 to 2108. </a:t>
            </a:r>
          </a:p>
          <a:p>
            <a:pPr marL="285750" indent="-285750">
              <a:buFont typeface="Arial" panose="020B0604020202020204" pitchFamily="34" charset="0"/>
              <a:buChar char="•"/>
            </a:pPr>
            <a:r>
              <a:rPr lang="en-US" dirty="0"/>
              <a:t>Peak Year: 2018 saw the highest number of new restaurants (1102).</a:t>
            </a:r>
          </a:p>
          <a:p>
            <a:pPr marL="285750" indent="-285750">
              <a:buFont typeface="Arial" panose="020B0604020202020204" pitchFamily="34" charset="0"/>
              <a:buChar char="•"/>
            </a:pPr>
            <a:r>
              <a:rPr lang="en-US" dirty="0"/>
              <a:t>The year 2012 saw the lowest number of new restaurants.</a:t>
            </a:r>
          </a:p>
        </p:txBody>
      </p:sp>
      <p:graphicFrame>
        <p:nvGraphicFramePr>
          <p:cNvPr id="5" name="Chart 4">
            <a:extLst>
              <a:ext uri="{FF2B5EF4-FFF2-40B4-BE49-F238E27FC236}">
                <a16:creationId xmlns:a16="http://schemas.microsoft.com/office/drawing/2014/main" id="{EA2C70B0-CD65-4C8A-97CF-3E9FA4E952AC}"/>
              </a:ext>
            </a:extLst>
          </p:cNvPr>
          <p:cNvGraphicFramePr>
            <a:graphicFrameLocks/>
          </p:cNvGraphicFramePr>
          <p:nvPr>
            <p:extLst>
              <p:ext uri="{D42A27DB-BD31-4B8C-83A1-F6EECF244321}">
                <p14:modId xmlns:p14="http://schemas.microsoft.com/office/powerpoint/2010/main" val="2161419252"/>
              </p:ext>
            </p:extLst>
          </p:nvPr>
        </p:nvGraphicFramePr>
        <p:xfrm>
          <a:off x="457201" y="1405227"/>
          <a:ext cx="4333460" cy="27168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3387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CDADC1-A18B-3511-CE49-61203F9E145A}"/>
              </a:ext>
            </a:extLst>
          </p:cNvPr>
          <p:cNvSpPr>
            <a:spLocks noGrp="1"/>
          </p:cNvSpPr>
          <p:nvPr>
            <p:ph type="title"/>
          </p:nvPr>
        </p:nvSpPr>
        <p:spPr>
          <a:xfrm>
            <a:off x="4930211" y="994585"/>
            <a:ext cx="3834000" cy="648685"/>
          </a:xfrm>
        </p:spPr>
        <p:txBody>
          <a:bodyPr/>
          <a:lstStyle/>
          <a:p>
            <a:r>
              <a:rPr lang="en-US" dirty="0"/>
              <a:t>Global footprint</a:t>
            </a:r>
            <a:endParaRPr lang="en-IN" dirty="0"/>
          </a:p>
        </p:txBody>
      </p:sp>
      <p:sp>
        <p:nvSpPr>
          <p:cNvPr id="4" name="Google Shape;529;p70">
            <a:extLst>
              <a:ext uri="{FF2B5EF4-FFF2-40B4-BE49-F238E27FC236}">
                <a16:creationId xmlns:a16="http://schemas.microsoft.com/office/drawing/2014/main" id="{A81DAAD1-0CA1-28B9-79C2-B1B85A3F2BAA}"/>
              </a:ext>
            </a:extLst>
          </p:cNvPr>
          <p:cNvSpPr txBox="1">
            <a:spLocks/>
          </p:cNvSpPr>
          <p:nvPr/>
        </p:nvSpPr>
        <p:spPr>
          <a:xfrm>
            <a:off x="4571999" y="1775791"/>
            <a:ext cx="3924912" cy="28492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Dominant Market: India is the largest market of Restaurants , with a total of 8652 restaurants.</a:t>
            </a:r>
          </a:p>
          <a:p>
            <a:pPr marL="285750" indent="-285750">
              <a:buFont typeface="Arial" panose="020B0604020202020204" pitchFamily="34" charset="0"/>
              <a:buChar char="•"/>
            </a:pPr>
            <a:r>
              <a:rPr lang="en-US" dirty="0"/>
              <a:t>Emerging Markets: Canada has the least number of restaurants i.e. 4.</a:t>
            </a:r>
          </a:p>
          <a:p>
            <a:pPr marL="285750" indent="-285750">
              <a:buFont typeface="Arial" panose="020B0604020202020204" pitchFamily="34" charset="0"/>
              <a:buChar char="•"/>
            </a:pPr>
            <a:r>
              <a:rPr lang="en-US" dirty="0"/>
              <a:t>International Presence: The United States of America has 434 restaurants.</a:t>
            </a:r>
          </a:p>
        </p:txBody>
      </p:sp>
      <p:graphicFrame>
        <p:nvGraphicFramePr>
          <p:cNvPr id="2" name="Chart 1">
            <a:extLst>
              <a:ext uri="{FF2B5EF4-FFF2-40B4-BE49-F238E27FC236}">
                <a16:creationId xmlns:a16="http://schemas.microsoft.com/office/drawing/2014/main" id="{917E02B7-AFF8-4B43-847C-FA15DC059DB4}"/>
              </a:ext>
            </a:extLst>
          </p:cNvPr>
          <p:cNvGraphicFramePr>
            <a:graphicFrameLocks/>
          </p:cNvGraphicFramePr>
          <p:nvPr>
            <p:extLst>
              <p:ext uri="{D42A27DB-BD31-4B8C-83A1-F6EECF244321}">
                <p14:modId xmlns:p14="http://schemas.microsoft.com/office/powerpoint/2010/main" val="58712636"/>
              </p:ext>
            </p:extLst>
          </p:nvPr>
        </p:nvGraphicFramePr>
        <p:xfrm>
          <a:off x="379789" y="994585"/>
          <a:ext cx="3967842" cy="34467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264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DEF675A-FE96-3E39-5A3D-C38A57176DF5}"/>
              </a:ext>
            </a:extLst>
          </p:cNvPr>
          <p:cNvSpPr>
            <a:spLocks noGrp="1"/>
          </p:cNvSpPr>
          <p:nvPr>
            <p:ph type="subTitle" idx="1"/>
          </p:nvPr>
        </p:nvSpPr>
        <p:spPr>
          <a:xfrm>
            <a:off x="4803913" y="1921565"/>
            <a:ext cx="3531704" cy="3094383"/>
          </a:xfrm>
        </p:spPr>
        <p:txBody>
          <a:bodyPr/>
          <a:lstStyle/>
          <a:p>
            <a:pPr>
              <a:buFont typeface="Arial" panose="020B0604020202020204" pitchFamily="34" charset="0"/>
              <a:buChar char="•"/>
            </a:pPr>
            <a:r>
              <a:rPr lang="en-US" dirty="0"/>
              <a:t>North Indian is the most popular cuisines (936 restaurants), followed by Chinese and Fast Food.</a:t>
            </a:r>
          </a:p>
          <a:p>
            <a:pPr>
              <a:buFont typeface="Arial" panose="020B0604020202020204" pitchFamily="34" charset="0"/>
              <a:buChar char="•"/>
            </a:pPr>
            <a:r>
              <a:rPr lang="en-US" dirty="0"/>
              <a:t>The popularity of “North Indian, Chinese” combination suggests a high demand of their fusion.</a:t>
            </a:r>
          </a:p>
          <a:p>
            <a:pPr>
              <a:buFont typeface="Arial" panose="020B0604020202020204" pitchFamily="34" charset="0"/>
              <a:buChar char="•"/>
            </a:pPr>
            <a:endParaRPr lang="en-US" dirty="0"/>
          </a:p>
          <a:p>
            <a:pPr>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03EFA5F5-2D56-07A9-1183-788083B1A182}"/>
              </a:ext>
            </a:extLst>
          </p:cNvPr>
          <p:cNvSpPr>
            <a:spLocks noGrp="1"/>
          </p:cNvSpPr>
          <p:nvPr>
            <p:ph type="title"/>
          </p:nvPr>
        </p:nvSpPr>
        <p:spPr>
          <a:xfrm>
            <a:off x="4943463" y="1292759"/>
            <a:ext cx="3834000" cy="572700"/>
          </a:xfrm>
        </p:spPr>
        <p:txBody>
          <a:bodyPr/>
          <a:lstStyle/>
          <a:p>
            <a:r>
              <a:rPr lang="en-US" dirty="0"/>
              <a:t>Culinary trends</a:t>
            </a:r>
            <a:br>
              <a:rPr lang="en-US" dirty="0"/>
            </a:br>
            <a:endParaRPr lang="en-IN" dirty="0"/>
          </a:p>
        </p:txBody>
      </p:sp>
      <p:graphicFrame>
        <p:nvGraphicFramePr>
          <p:cNvPr id="4" name="Chart 3">
            <a:extLst>
              <a:ext uri="{FF2B5EF4-FFF2-40B4-BE49-F238E27FC236}">
                <a16:creationId xmlns:a16="http://schemas.microsoft.com/office/drawing/2014/main" id="{447B9A38-4AFD-4EEE-82DE-978B74E4FE4B}"/>
              </a:ext>
            </a:extLst>
          </p:cNvPr>
          <p:cNvGraphicFramePr>
            <a:graphicFrameLocks/>
          </p:cNvGraphicFramePr>
          <p:nvPr>
            <p:extLst>
              <p:ext uri="{D42A27DB-BD31-4B8C-83A1-F6EECF244321}">
                <p14:modId xmlns:p14="http://schemas.microsoft.com/office/powerpoint/2010/main" val="1109652249"/>
              </p:ext>
            </p:extLst>
          </p:nvPr>
        </p:nvGraphicFramePr>
        <p:xfrm>
          <a:off x="446050" y="1200150"/>
          <a:ext cx="4190454"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23369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B7D634-7885-2CE6-3391-49C5943D4C85}"/>
              </a:ext>
            </a:extLst>
          </p:cNvPr>
          <p:cNvSpPr>
            <a:spLocks noGrp="1"/>
          </p:cNvSpPr>
          <p:nvPr>
            <p:ph type="title"/>
          </p:nvPr>
        </p:nvSpPr>
        <p:spPr>
          <a:xfrm>
            <a:off x="5207643" y="1015764"/>
            <a:ext cx="3377557" cy="675152"/>
          </a:xfrm>
        </p:spPr>
        <p:txBody>
          <a:bodyPr/>
          <a:lstStyle/>
          <a:p>
            <a:r>
              <a:rPr lang="en-US" dirty="0"/>
              <a:t>Financial analysis</a:t>
            </a:r>
            <a:endParaRPr lang="en-IN" dirty="0"/>
          </a:p>
        </p:txBody>
      </p:sp>
      <p:sp>
        <p:nvSpPr>
          <p:cNvPr id="4" name="Google Shape;529;p70">
            <a:extLst>
              <a:ext uri="{FF2B5EF4-FFF2-40B4-BE49-F238E27FC236}">
                <a16:creationId xmlns:a16="http://schemas.microsoft.com/office/drawing/2014/main" id="{8CB7EEBA-911F-E3DA-552A-57EC50A2C5FF}"/>
              </a:ext>
            </a:extLst>
          </p:cNvPr>
          <p:cNvSpPr txBox="1">
            <a:spLocks noGrp="1"/>
          </p:cNvSpPr>
          <p:nvPr>
            <p:ph type="subTitle" idx="1"/>
          </p:nvPr>
        </p:nvSpPr>
        <p:spPr>
          <a:xfrm>
            <a:off x="5207643" y="1820911"/>
            <a:ext cx="3567113" cy="268419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Most Expensive: Singapore has the highest average cost per meals for two.</a:t>
            </a:r>
          </a:p>
          <a:p>
            <a:pPr marL="285750" indent="-285750">
              <a:buFont typeface="Arial" panose="020B0604020202020204" pitchFamily="34" charset="0"/>
              <a:buChar char="•"/>
            </a:pPr>
            <a:r>
              <a:rPr lang="en-US" dirty="0"/>
              <a:t>Most Affordable: Turkey is the most budget-friendly options for restaurants.</a:t>
            </a:r>
          </a:p>
          <a:p>
            <a:pPr marL="285750" indent="-285750">
              <a:buFont typeface="Arial" panose="020B0604020202020204" pitchFamily="34" charset="0"/>
              <a:buChar char="•"/>
            </a:pPr>
            <a:r>
              <a:rPr lang="en-US" dirty="0"/>
              <a:t>Global Average: The overall global average cost for two is Rs. 838.99.</a:t>
            </a:r>
          </a:p>
        </p:txBody>
      </p:sp>
      <p:graphicFrame>
        <p:nvGraphicFramePr>
          <p:cNvPr id="2" name="Chart 1">
            <a:extLst>
              <a:ext uri="{FF2B5EF4-FFF2-40B4-BE49-F238E27FC236}">
                <a16:creationId xmlns:a16="http://schemas.microsoft.com/office/drawing/2014/main" id="{6F5DC2DB-8F65-4779-A6C8-5D0084DAA59C}"/>
              </a:ext>
            </a:extLst>
          </p:cNvPr>
          <p:cNvGraphicFramePr>
            <a:graphicFrameLocks/>
          </p:cNvGraphicFramePr>
          <p:nvPr>
            <p:extLst>
              <p:ext uri="{D42A27DB-BD31-4B8C-83A1-F6EECF244321}">
                <p14:modId xmlns:p14="http://schemas.microsoft.com/office/powerpoint/2010/main" val="1524999751"/>
              </p:ext>
            </p:extLst>
          </p:nvPr>
        </p:nvGraphicFramePr>
        <p:xfrm>
          <a:off x="85218" y="1278184"/>
          <a:ext cx="4967622" cy="28193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859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3BDB12-7401-285C-2705-7ABA48623048}"/>
              </a:ext>
            </a:extLst>
          </p:cNvPr>
          <p:cNvSpPr>
            <a:spLocks noGrp="1"/>
          </p:cNvSpPr>
          <p:nvPr>
            <p:ph type="title"/>
          </p:nvPr>
        </p:nvSpPr>
        <p:spPr>
          <a:xfrm>
            <a:off x="4863950" y="1040296"/>
            <a:ext cx="3834000" cy="735495"/>
          </a:xfrm>
        </p:spPr>
        <p:txBody>
          <a:bodyPr/>
          <a:lstStyle/>
          <a:p>
            <a:r>
              <a:rPr lang="en-US" dirty="0"/>
              <a:t>Customer satisfaction</a:t>
            </a:r>
            <a:endParaRPr lang="en-IN" dirty="0"/>
          </a:p>
        </p:txBody>
      </p:sp>
      <p:graphicFrame>
        <p:nvGraphicFramePr>
          <p:cNvPr id="4" name="Chart 3">
            <a:extLst>
              <a:ext uri="{FF2B5EF4-FFF2-40B4-BE49-F238E27FC236}">
                <a16:creationId xmlns:a16="http://schemas.microsoft.com/office/drawing/2014/main" id="{47C41C9D-7300-48FE-BFD9-71A801F015A4}"/>
              </a:ext>
            </a:extLst>
          </p:cNvPr>
          <p:cNvGraphicFramePr>
            <a:graphicFrameLocks/>
          </p:cNvGraphicFramePr>
          <p:nvPr>
            <p:extLst>
              <p:ext uri="{D42A27DB-BD31-4B8C-83A1-F6EECF244321}">
                <p14:modId xmlns:p14="http://schemas.microsoft.com/office/powerpoint/2010/main" val="149895554"/>
              </p:ext>
            </p:extLst>
          </p:nvPr>
        </p:nvGraphicFramePr>
        <p:xfrm>
          <a:off x="225287" y="543339"/>
          <a:ext cx="4704924" cy="3856383"/>
        </p:xfrm>
        <a:graphic>
          <a:graphicData uri="http://schemas.openxmlformats.org/drawingml/2006/chart">
            <c:chart xmlns:c="http://schemas.openxmlformats.org/drawingml/2006/chart" xmlns:r="http://schemas.openxmlformats.org/officeDocument/2006/relationships" r:id="rId2"/>
          </a:graphicData>
        </a:graphic>
      </p:graphicFrame>
      <p:sp>
        <p:nvSpPr>
          <p:cNvPr id="5" name="Google Shape;529;p70">
            <a:extLst>
              <a:ext uri="{FF2B5EF4-FFF2-40B4-BE49-F238E27FC236}">
                <a16:creationId xmlns:a16="http://schemas.microsoft.com/office/drawing/2014/main" id="{FF386F1B-BBA5-F016-3E9A-4D4776F56592}"/>
              </a:ext>
            </a:extLst>
          </p:cNvPr>
          <p:cNvSpPr txBox="1">
            <a:spLocks/>
          </p:cNvSpPr>
          <p:nvPr/>
        </p:nvSpPr>
        <p:spPr>
          <a:xfrm>
            <a:off x="4930211" y="2022462"/>
            <a:ext cx="3566700" cy="161323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 India has the least average rating of 2.77.</a:t>
            </a:r>
          </a:p>
          <a:p>
            <a:pPr marL="285750" indent="-285750">
              <a:buFont typeface="Arial" panose="020B0604020202020204" pitchFamily="34" charset="0"/>
              <a:buChar char="•"/>
            </a:pPr>
            <a:r>
              <a:rPr lang="en-US" dirty="0"/>
              <a:t>Whereas, the Philippines has the highest average rating of 4.468.</a:t>
            </a:r>
          </a:p>
        </p:txBody>
      </p:sp>
      <p:graphicFrame>
        <p:nvGraphicFramePr>
          <p:cNvPr id="2" name="Chart 1">
            <a:extLst>
              <a:ext uri="{FF2B5EF4-FFF2-40B4-BE49-F238E27FC236}">
                <a16:creationId xmlns:a16="http://schemas.microsoft.com/office/drawing/2014/main" id="{38F71DC5-AD56-4282-A898-E1EFAD3D8181}"/>
              </a:ext>
            </a:extLst>
          </p:cNvPr>
          <p:cNvGraphicFramePr>
            <a:graphicFrameLocks/>
          </p:cNvGraphicFramePr>
          <p:nvPr>
            <p:extLst>
              <p:ext uri="{D42A27DB-BD31-4B8C-83A1-F6EECF244321}">
                <p14:modId xmlns:p14="http://schemas.microsoft.com/office/powerpoint/2010/main" val="1022555507"/>
              </p:ext>
            </p:extLst>
          </p:nvPr>
        </p:nvGraphicFramePr>
        <p:xfrm>
          <a:off x="144023" y="875310"/>
          <a:ext cx="4801191" cy="36096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9929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9FEC1A-94BB-2EDA-3E35-44174973374F}"/>
              </a:ext>
            </a:extLst>
          </p:cNvPr>
          <p:cNvSpPr>
            <a:spLocks noGrp="1"/>
          </p:cNvSpPr>
          <p:nvPr>
            <p:ph type="title"/>
          </p:nvPr>
        </p:nvSpPr>
        <p:spPr>
          <a:xfrm>
            <a:off x="5439425" y="678317"/>
            <a:ext cx="2340232" cy="656998"/>
          </a:xfrm>
        </p:spPr>
        <p:txBody>
          <a:bodyPr/>
          <a:lstStyle/>
          <a:p>
            <a:r>
              <a:rPr lang="en-US" dirty="0"/>
              <a:t>Table booking</a:t>
            </a:r>
            <a:endParaRPr lang="en-IN" dirty="0"/>
          </a:p>
        </p:txBody>
      </p:sp>
      <p:graphicFrame>
        <p:nvGraphicFramePr>
          <p:cNvPr id="4" name="Chart 3">
            <a:extLst>
              <a:ext uri="{FF2B5EF4-FFF2-40B4-BE49-F238E27FC236}">
                <a16:creationId xmlns:a16="http://schemas.microsoft.com/office/drawing/2014/main" id="{441C871C-7C83-4E22-84E1-B2BCABC6A7BE}"/>
              </a:ext>
            </a:extLst>
          </p:cNvPr>
          <p:cNvGraphicFramePr>
            <a:graphicFrameLocks/>
          </p:cNvGraphicFramePr>
          <p:nvPr>
            <p:extLst>
              <p:ext uri="{D42A27DB-BD31-4B8C-83A1-F6EECF244321}">
                <p14:modId xmlns:p14="http://schemas.microsoft.com/office/powerpoint/2010/main" val="1188254403"/>
              </p:ext>
            </p:extLst>
          </p:nvPr>
        </p:nvGraphicFramePr>
        <p:xfrm>
          <a:off x="516836" y="821635"/>
          <a:ext cx="3299790" cy="3332922"/>
        </p:xfrm>
        <a:graphic>
          <a:graphicData uri="http://schemas.openxmlformats.org/drawingml/2006/chart">
            <c:chart xmlns:c="http://schemas.openxmlformats.org/drawingml/2006/chart" xmlns:r="http://schemas.openxmlformats.org/officeDocument/2006/relationships" r:id="rId2"/>
          </a:graphicData>
        </a:graphic>
      </p:graphicFrame>
      <p:sp>
        <p:nvSpPr>
          <p:cNvPr id="5" name="Google Shape;529;p70">
            <a:extLst>
              <a:ext uri="{FF2B5EF4-FFF2-40B4-BE49-F238E27FC236}">
                <a16:creationId xmlns:a16="http://schemas.microsoft.com/office/drawing/2014/main" id="{01C54A3E-A424-5A8E-C33C-A5F9F539DD5B}"/>
              </a:ext>
            </a:extLst>
          </p:cNvPr>
          <p:cNvSpPr txBox="1">
            <a:spLocks/>
          </p:cNvSpPr>
          <p:nvPr/>
        </p:nvSpPr>
        <p:spPr>
          <a:xfrm>
            <a:off x="4826191" y="1645163"/>
            <a:ext cx="3566700" cy="2438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There are total 0f 9551 restaurants present across 15 different countries.</a:t>
            </a:r>
          </a:p>
          <a:p>
            <a:pPr marL="285750" indent="-285750">
              <a:buFont typeface="Arial" panose="020B0604020202020204" pitchFamily="34" charset="0"/>
              <a:buChar char="•"/>
            </a:pPr>
            <a:r>
              <a:rPr lang="en-US" dirty="0"/>
              <a:t>Out of which 1158 i.e. 12% of total restaurants have table booking.</a:t>
            </a:r>
          </a:p>
          <a:p>
            <a:pPr marL="285750" indent="-285750">
              <a:buFont typeface="Arial" panose="020B0604020202020204" pitchFamily="34" charset="0"/>
              <a:buChar char="•"/>
            </a:pPr>
            <a:r>
              <a:rPr lang="en-US" dirty="0"/>
              <a:t>Whereas 8393 out of 9551 i.e. 88% of restaurants does not have table booking.</a:t>
            </a:r>
          </a:p>
        </p:txBody>
      </p:sp>
    </p:spTree>
    <p:extLst>
      <p:ext uri="{BB962C8B-B14F-4D97-AF65-F5344CB8AC3E}">
        <p14:creationId xmlns:p14="http://schemas.microsoft.com/office/powerpoint/2010/main" val="238558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68C9E40-9BFD-16BA-AB39-20E28757AE8D}"/>
              </a:ext>
            </a:extLst>
          </p:cNvPr>
          <p:cNvSpPr>
            <a:spLocks noGrp="1"/>
          </p:cNvSpPr>
          <p:nvPr>
            <p:ph type="subTitle" idx="1"/>
          </p:nvPr>
        </p:nvSpPr>
        <p:spPr>
          <a:xfrm>
            <a:off x="4863950" y="1722783"/>
            <a:ext cx="3566700" cy="2749825"/>
          </a:xfrm>
        </p:spPr>
        <p:txBody>
          <a:bodyPr/>
          <a:lstStyle/>
          <a:p>
            <a:pPr marL="285750" indent="-285750">
              <a:buFont typeface="Arial" panose="020B0604020202020204" pitchFamily="34" charset="0"/>
              <a:buChar char="•"/>
            </a:pPr>
            <a:r>
              <a:rPr lang="en-US" dirty="0"/>
              <a:t>There are total 0f 9551 restaurants present across 15 different countries.</a:t>
            </a:r>
          </a:p>
          <a:p>
            <a:pPr marL="285750" indent="-285750">
              <a:buFont typeface="Arial" panose="020B0604020202020204" pitchFamily="34" charset="0"/>
              <a:buChar char="•"/>
            </a:pPr>
            <a:r>
              <a:rPr lang="en-US" dirty="0"/>
              <a:t>Out of which 2451 i.e. 26% of total restaurants have online delivery.</a:t>
            </a:r>
          </a:p>
          <a:p>
            <a:pPr marL="285750" indent="-285750">
              <a:buFont typeface="Arial" panose="020B0604020202020204" pitchFamily="34" charset="0"/>
              <a:buChar char="•"/>
            </a:pPr>
            <a:r>
              <a:rPr lang="en-US" dirty="0"/>
              <a:t>Whereas 7100 out of 9551 i.e. 74% of restaurants does not have online delivery.</a:t>
            </a:r>
          </a:p>
          <a:p>
            <a:endParaRPr lang="en-IN" dirty="0"/>
          </a:p>
        </p:txBody>
      </p:sp>
      <p:sp>
        <p:nvSpPr>
          <p:cNvPr id="3" name="Title 2">
            <a:extLst>
              <a:ext uri="{FF2B5EF4-FFF2-40B4-BE49-F238E27FC236}">
                <a16:creationId xmlns:a16="http://schemas.microsoft.com/office/drawing/2014/main" id="{DBCB80D0-3932-91BB-77EF-CF77F7E8061F}"/>
              </a:ext>
            </a:extLst>
          </p:cNvPr>
          <p:cNvSpPr>
            <a:spLocks noGrp="1"/>
          </p:cNvSpPr>
          <p:nvPr>
            <p:ph type="title"/>
          </p:nvPr>
        </p:nvSpPr>
        <p:spPr>
          <a:xfrm>
            <a:off x="5212292" y="670892"/>
            <a:ext cx="3352008" cy="716209"/>
          </a:xfrm>
        </p:spPr>
        <p:txBody>
          <a:bodyPr/>
          <a:lstStyle/>
          <a:p>
            <a:r>
              <a:rPr lang="en-US" dirty="0"/>
              <a:t>Online delivery</a:t>
            </a:r>
            <a:endParaRPr lang="en-IN" dirty="0"/>
          </a:p>
        </p:txBody>
      </p:sp>
      <p:graphicFrame>
        <p:nvGraphicFramePr>
          <p:cNvPr id="4" name="Chart 3">
            <a:extLst>
              <a:ext uri="{FF2B5EF4-FFF2-40B4-BE49-F238E27FC236}">
                <a16:creationId xmlns:a16="http://schemas.microsoft.com/office/drawing/2014/main" id="{A75208AB-B126-4F3B-97A2-65ECD4CC3CC0}"/>
              </a:ext>
            </a:extLst>
          </p:cNvPr>
          <p:cNvGraphicFramePr>
            <a:graphicFrameLocks/>
          </p:cNvGraphicFramePr>
          <p:nvPr>
            <p:extLst>
              <p:ext uri="{D42A27DB-BD31-4B8C-83A1-F6EECF244321}">
                <p14:modId xmlns:p14="http://schemas.microsoft.com/office/powerpoint/2010/main" val="3721289775"/>
              </p:ext>
            </p:extLst>
          </p:nvPr>
        </p:nvGraphicFramePr>
        <p:xfrm>
          <a:off x="579700" y="759516"/>
          <a:ext cx="3246782" cy="36244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30008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19548E-7F11-B848-6AF2-3CC3E4721F54}"/>
              </a:ext>
            </a:extLst>
          </p:cNvPr>
          <p:cNvSpPr>
            <a:spLocks noGrp="1"/>
          </p:cNvSpPr>
          <p:nvPr>
            <p:ph type="title"/>
          </p:nvPr>
        </p:nvSpPr>
        <p:spPr>
          <a:xfrm>
            <a:off x="238539" y="882903"/>
            <a:ext cx="4041913" cy="1058539"/>
          </a:xfrm>
        </p:spPr>
        <p:txBody>
          <a:bodyPr/>
          <a:lstStyle/>
          <a:p>
            <a:r>
              <a:rPr lang="en-US" sz="3500" dirty="0"/>
              <a:t>Strategic Recommendations</a:t>
            </a:r>
            <a:endParaRPr lang="en-IN" sz="3500" dirty="0"/>
          </a:p>
        </p:txBody>
      </p:sp>
      <p:sp>
        <p:nvSpPr>
          <p:cNvPr id="12" name="Google Shape;539;p71">
            <a:extLst>
              <a:ext uri="{FF2B5EF4-FFF2-40B4-BE49-F238E27FC236}">
                <a16:creationId xmlns:a16="http://schemas.microsoft.com/office/drawing/2014/main" id="{23F017A9-6B6D-0428-B534-0E30DE564FEE}"/>
              </a:ext>
            </a:extLst>
          </p:cNvPr>
          <p:cNvSpPr txBox="1">
            <a:spLocks/>
          </p:cNvSpPr>
          <p:nvPr/>
        </p:nvSpPr>
        <p:spPr>
          <a:xfrm>
            <a:off x="4139440" y="2103561"/>
            <a:ext cx="5004560" cy="32149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8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Light"/>
                <a:ea typeface="Overpass Light"/>
                <a:cs typeface="Overpass Light"/>
                <a:sym typeface="Overpass Light"/>
              </a:defRPr>
            </a:lvl9pPr>
          </a:lstStyle>
          <a:p>
            <a:pPr marL="285750" indent="-285750">
              <a:buFont typeface="Arial" panose="020B0604020202020204" pitchFamily="34" charset="0"/>
              <a:buChar char="•"/>
            </a:pPr>
            <a:r>
              <a:rPr lang="en-US" dirty="0"/>
              <a:t>Digital Expansion: Expand Online Delivery and Table Booking options to the remaining restaurants.</a:t>
            </a:r>
          </a:p>
          <a:p>
            <a:pPr marL="285750" indent="-285750">
              <a:buFont typeface="Arial" panose="020B0604020202020204" pitchFamily="34" charset="0"/>
              <a:buChar char="•"/>
            </a:pPr>
            <a:r>
              <a:rPr lang="en-US" dirty="0"/>
              <a:t>Target High-value Markets: Focus on the Philippines, turkey and Indonesia for “Premium: branding, as they have higher customer satisfaction.</a:t>
            </a:r>
          </a:p>
          <a:p>
            <a:pPr marL="285750" indent="-285750">
              <a:buFont typeface="Arial" panose="020B0604020202020204" pitchFamily="34" charset="0"/>
              <a:buChar char="•"/>
            </a:pPr>
            <a:r>
              <a:rPr lang="en-US" dirty="0"/>
              <a:t>Enhance Quality in India: India is the biggest market, increasing the average rating should be the first priority.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5516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B05C7BF-C131-A0A2-2845-E8E2D4CD722D}"/>
              </a:ext>
            </a:extLst>
          </p:cNvPr>
          <p:cNvSpPr>
            <a:spLocks noGrp="1"/>
          </p:cNvSpPr>
          <p:nvPr>
            <p:ph type="body" idx="1"/>
          </p:nvPr>
        </p:nvSpPr>
        <p:spPr>
          <a:xfrm>
            <a:off x="2756394" y="256704"/>
            <a:ext cx="2531223" cy="670948"/>
          </a:xfrm>
        </p:spPr>
        <p:txBody>
          <a:bodyPr/>
          <a:lstStyle/>
          <a:p>
            <a:pPr algn="ctr"/>
            <a:r>
              <a:rPr lang="en-US" sz="3500" dirty="0"/>
              <a:t>dashboard</a:t>
            </a:r>
            <a:endParaRPr lang="en-IN" sz="3500" dirty="0"/>
          </a:p>
        </p:txBody>
      </p:sp>
      <p:pic>
        <p:nvPicPr>
          <p:cNvPr id="6" name="Picture 5">
            <a:extLst>
              <a:ext uri="{FF2B5EF4-FFF2-40B4-BE49-F238E27FC236}">
                <a16:creationId xmlns:a16="http://schemas.microsoft.com/office/drawing/2014/main" id="{11C219F2-FD15-FF39-5096-B75643F6A760}"/>
              </a:ext>
            </a:extLst>
          </p:cNvPr>
          <p:cNvPicPr>
            <a:picLocks noChangeAspect="1"/>
          </p:cNvPicPr>
          <p:nvPr/>
        </p:nvPicPr>
        <p:blipFill>
          <a:blip r:embed="rId2"/>
          <a:stretch>
            <a:fillRect/>
          </a:stretch>
        </p:blipFill>
        <p:spPr>
          <a:xfrm>
            <a:off x="533605" y="927652"/>
            <a:ext cx="7779413" cy="3872441"/>
          </a:xfrm>
          <a:prstGeom prst="rect">
            <a:avLst/>
          </a:prstGeom>
        </p:spPr>
      </p:pic>
    </p:spTree>
    <p:extLst>
      <p:ext uri="{BB962C8B-B14F-4D97-AF65-F5344CB8AC3E}">
        <p14:creationId xmlns:p14="http://schemas.microsoft.com/office/powerpoint/2010/main" val="2503939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71"/>
          <p:cNvSpPr txBox="1">
            <a:spLocks noGrp="1"/>
          </p:cNvSpPr>
          <p:nvPr>
            <p:ph type="subTitle" idx="1"/>
          </p:nvPr>
        </p:nvSpPr>
        <p:spPr>
          <a:xfrm>
            <a:off x="3611219" y="2093855"/>
            <a:ext cx="5004560" cy="3214936"/>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 dirty="0"/>
              <a:t>Before deciding a location for new restaurants, look for the city with high vote counts as there are active customers in that city.</a:t>
            </a:r>
          </a:p>
          <a:p>
            <a:pPr marL="285750" lvl="0" indent="-285750" algn="l" rtl="0">
              <a:spcBef>
                <a:spcPts val="0"/>
              </a:spcBef>
              <a:spcAft>
                <a:spcPts val="0"/>
              </a:spcAft>
              <a:buFont typeface="Arial" panose="020B0604020202020204" pitchFamily="34" charset="0"/>
              <a:buChar char="•"/>
            </a:pPr>
            <a:r>
              <a:rPr lang="en" dirty="0"/>
              <a:t>Also, the country or the city with the high average cost is suitable for opening new restaurant, along with the  country or the city with high average rating and less number of restaurants.</a:t>
            </a:r>
          </a:p>
          <a:p>
            <a:pPr marL="285750" lvl="0" indent="-285750" algn="l" rtl="0">
              <a:spcBef>
                <a:spcPts val="0"/>
              </a:spcBef>
              <a:spcAft>
                <a:spcPts val="0"/>
              </a:spcAft>
              <a:buFont typeface="Arial" panose="020B0604020202020204" pitchFamily="34" charset="0"/>
              <a:buChar char="•"/>
            </a:pPr>
            <a:r>
              <a:rPr lang="en" dirty="0"/>
              <a:t>The countries like Indonesia, Canada and Philippines.</a:t>
            </a:r>
          </a:p>
          <a:p>
            <a:pPr marL="0" lvl="0" indent="0" algn="l" rtl="0">
              <a:spcBef>
                <a:spcPts val="0"/>
              </a:spcBef>
              <a:spcAft>
                <a:spcPts val="0"/>
              </a:spcAft>
              <a:buNone/>
            </a:pPr>
            <a:endParaRPr dirty="0"/>
          </a:p>
        </p:txBody>
      </p:sp>
      <p:cxnSp>
        <p:nvCxnSpPr>
          <p:cNvPr id="541" name="Google Shape;541;p71"/>
          <p:cNvCxnSpPr/>
          <p:nvPr/>
        </p:nvCxnSpPr>
        <p:spPr>
          <a:xfrm rot="10800000">
            <a:off x="9039625" y="2574175"/>
            <a:ext cx="0" cy="2472000"/>
          </a:xfrm>
          <a:prstGeom prst="straightConnector1">
            <a:avLst/>
          </a:prstGeom>
          <a:noFill/>
          <a:ln w="19050" cap="flat" cmpd="sng">
            <a:solidFill>
              <a:schemeClr val="lt1"/>
            </a:solidFill>
            <a:prstDash val="solid"/>
            <a:round/>
            <a:headEnd type="none" w="med" len="med"/>
            <a:tailEnd type="none" w="med" len="med"/>
          </a:ln>
        </p:spPr>
      </p:cxnSp>
      <p:cxnSp>
        <p:nvCxnSpPr>
          <p:cNvPr id="542" name="Google Shape;542;p71"/>
          <p:cNvCxnSpPr/>
          <p:nvPr/>
        </p:nvCxnSpPr>
        <p:spPr>
          <a:xfrm rot="10800000">
            <a:off x="108900" y="5036375"/>
            <a:ext cx="8936100" cy="0"/>
          </a:xfrm>
          <a:prstGeom prst="straightConnector1">
            <a:avLst/>
          </a:prstGeom>
          <a:noFill/>
          <a:ln w="19050" cap="flat" cmpd="sng">
            <a:solidFill>
              <a:schemeClr val="lt1"/>
            </a:solidFill>
            <a:prstDash val="solid"/>
            <a:round/>
            <a:headEnd type="none" w="med" len="med"/>
            <a:tailEnd type="none" w="med" len="med"/>
          </a:ln>
        </p:spPr>
      </p:cxnSp>
      <p:cxnSp>
        <p:nvCxnSpPr>
          <p:cNvPr id="543" name="Google Shape;543;p71"/>
          <p:cNvCxnSpPr/>
          <p:nvPr/>
        </p:nvCxnSpPr>
        <p:spPr>
          <a:xfrm rot="10800000">
            <a:off x="107275" y="2574375"/>
            <a:ext cx="0" cy="2470500"/>
          </a:xfrm>
          <a:prstGeom prst="straightConnector1">
            <a:avLst/>
          </a:prstGeom>
          <a:noFill/>
          <a:ln w="19050" cap="flat" cmpd="sng">
            <a:solidFill>
              <a:schemeClr val="lt1"/>
            </a:solidFill>
            <a:prstDash val="solid"/>
            <a:round/>
            <a:headEnd type="none" w="med" len="med"/>
            <a:tailEnd type="none" w="med" len="med"/>
          </a:ln>
        </p:spPr>
      </p:cxnSp>
      <p:sp>
        <p:nvSpPr>
          <p:cNvPr id="3" name="Title 2">
            <a:extLst>
              <a:ext uri="{FF2B5EF4-FFF2-40B4-BE49-F238E27FC236}">
                <a16:creationId xmlns:a16="http://schemas.microsoft.com/office/drawing/2014/main" id="{78CAFE26-E2BC-BEF9-8B6C-AA2D6C676A5E}"/>
              </a:ext>
            </a:extLst>
          </p:cNvPr>
          <p:cNvSpPr>
            <a:spLocks noGrp="1"/>
          </p:cNvSpPr>
          <p:nvPr>
            <p:ph type="title"/>
          </p:nvPr>
        </p:nvSpPr>
        <p:spPr/>
        <p:txBody>
          <a:bodyPr/>
          <a:lstStyle/>
          <a:p>
            <a:r>
              <a:rPr lang="en-US" dirty="0"/>
              <a:t>conclusions</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50" name="Google Shape;550;p72"/>
          <p:cNvSpPr/>
          <p:nvPr/>
        </p:nvSpPr>
        <p:spPr>
          <a:xfrm>
            <a:off x="3167950" y="1501134"/>
            <a:ext cx="5967900" cy="213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cxnSp>
        <p:nvCxnSpPr>
          <p:cNvPr id="577" name="Google Shape;577;p72"/>
          <p:cNvCxnSpPr/>
          <p:nvPr/>
        </p:nvCxnSpPr>
        <p:spPr>
          <a:xfrm rot="10800000">
            <a:off x="9042772" y="3647100"/>
            <a:ext cx="0" cy="1381500"/>
          </a:xfrm>
          <a:prstGeom prst="straightConnector1">
            <a:avLst/>
          </a:prstGeom>
          <a:noFill/>
          <a:ln w="19050" cap="flat" cmpd="sng">
            <a:solidFill>
              <a:schemeClr val="lt1"/>
            </a:solidFill>
            <a:prstDash val="solid"/>
            <a:round/>
            <a:headEnd type="none" w="med" len="med"/>
            <a:tailEnd type="none" w="med" len="med"/>
          </a:ln>
        </p:spPr>
      </p:cxnSp>
      <p:cxnSp>
        <p:nvCxnSpPr>
          <p:cNvPr id="578" name="Google Shape;578;p72"/>
          <p:cNvCxnSpPr/>
          <p:nvPr/>
        </p:nvCxnSpPr>
        <p:spPr>
          <a:xfrm>
            <a:off x="4571486" y="5036375"/>
            <a:ext cx="4473000" cy="0"/>
          </a:xfrm>
          <a:prstGeom prst="straightConnector1">
            <a:avLst/>
          </a:prstGeom>
          <a:noFill/>
          <a:ln w="19050" cap="flat" cmpd="sng">
            <a:solidFill>
              <a:schemeClr val="lt1"/>
            </a:solidFill>
            <a:prstDash val="solid"/>
            <a:round/>
            <a:headEnd type="none" w="med" len="med"/>
            <a:tailEnd type="none" w="med" len="med"/>
          </a:ln>
        </p:spPr>
      </p:cxnSp>
      <p:cxnSp>
        <p:nvCxnSpPr>
          <p:cNvPr id="579" name="Google Shape;579;p72"/>
          <p:cNvCxnSpPr/>
          <p:nvPr/>
        </p:nvCxnSpPr>
        <p:spPr>
          <a:xfrm>
            <a:off x="4571486" y="101275"/>
            <a:ext cx="4473000" cy="0"/>
          </a:xfrm>
          <a:prstGeom prst="straightConnector1">
            <a:avLst/>
          </a:prstGeom>
          <a:noFill/>
          <a:ln w="19050" cap="flat" cmpd="sng">
            <a:solidFill>
              <a:schemeClr val="lt1"/>
            </a:solidFill>
            <a:prstDash val="solid"/>
            <a:round/>
            <a:headEnd type="none" w="med" len="med"/>
            <a:tailEnd type="none" w="med" len="med"/>
          </a:ln>
        </p:spPr>
      </p:cxnSp>
      <p:cxnSp>
        <p:nvCxnSpPr>
          <p:cNvPr id="580" name="Google Shape;580;p72"/>
          <p:cNvCxnSpPr/>
          <p:nvPr/>
        </p:nvCxnSpPr>
        <p:spPr>
          <a:xfrm rot="10800000">
            <a:off x="9042772" y="115475"/>
            <a:ext cx="0" cy="1381500"/>
          </a:xfrm>
          <a:prstGeom prst="straightConnector1">
            <a:avLst/>
          </a:prstGeom>
          <a:noFill/>
          <a:ln w="19050" cap="flat" cmpd="sng">
            <a:solidFill>
              <a:schemeClr val="lt1"/>
            </a:solidFill>
            <a:prstDash val="solid"/>
            <a:round/>
            <a:headEnd type="none" w="med" len="med"/>
            <a:tailEnd type="none" w="med" len="med"/>
          </a:ln>
        </p:spPr>
      </p:cxnSp>
      <p:sp>
        <p:nvSpPr>
          <p:cNvPr id="15" name="Title 2">
            <a:extLst>
              <a:ext uri="{FF2B5EF4-FFF2-40B4-BE49-F238E27FC236}">
                <a16:creationId xmlns:a16="http://schemas.microsoft.com/office/drawing/2014/main" id="{422B1C40-F246-CA95-D9D4-8560E016E26C}"/>
              </a:ext>
            </a:extLst>
          </p:cNvPr>
          <p:cNvSpPr>
            <a:spLocks noGrp="1"/>
          </p:cNvSpPr>
          <p:nvPr>
            <p:ph type="title"/>
          </p:nvPr>
        </p:nvSpPr>
        <p:spPr>
          <a:xfrm>
            <a:off x="3602198" y="2064235"/>
            <a:ext cx="4753298" cy="884374"/>
          </a:xfrm>
        </p:spPr>
        <p:txBody>
          <a:bodyPr/>
          <a:lstStyle/>
          <a:p>
            <a:r>
              <a:rPr lang="en-US" sz="3500" dirty="0">
                <a:solidFill>
                  <a:schemeClr val="bg1"/>
                </a:solidFill>
              </a:rPr>
              <a:t>Thank you</a:t>
            </a:r>
            <a:endParaRPr lang="en-IN" sz="35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Minimal Marketing by Slidesgo XL">
  <a:themeElements>
    <a:clrScheme name="Simple Light">
      <a:dk1>
        <a:srgbClr val="D82727"/>
      </a:dk1>
      <a:lt1>
        <a:srgbClr val="FFFFFF"/>
      </a:lt1>
      <a:dk2>
        <a:srgbClr val="FFFFFF"/>
      </a:dk2>
      <a:lt2>
        <a:srgbClr val="FFFFFF"/>
      </a:lt2>
      <a:accent1>
        <a:srgbClr val="D82727"/>
      </a:accent1>
      <a:accent2>
        <a:srgbClr val="D82727"/>
      </a:accent2>
      <a:accent3>
        <a:srgbClr val="FFFFFF"/>
      </a:accent3>
      <a:accent4>
        <a:srgbClr val="D82727"/>
      </a:accent4>
      <a:accent5>
        <a:srgbClr val="FFFFFF"/>
      </a:accent5>
      <a:accent6>
        <a:srgbClr val="D82727"/>
      </a:accent6>
      <a:hlink>
        <a:srgbClr val="D827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753</Words>
  <Application>Microsoft Office PowerPoint</Application>
  <PresentationFormat>On-screen Show (16:9)</PresentationFormat>
  <Paragraphs>72</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Overpass Light</vt:lpstr>
      <vt:lpstr>Roboto Slab Light</vt:lpstr>
      <vt:lpstr>Fira Sans Extra Condensed Medium</vt:lpstr>
      <vt:lpstr>Overpass</vt:lpstr>
      <vt:lpstr>Arial</vt:lpstr>
      <vt:lpstr>Bebas Neue</vt:lpstr>
      <vt:lpstr>Minimal Marketing by Slidesgo XL</vt:lpstr>
      <vt:lpstr>zomato Restaurant analysis</vt:lpstr>
      <vt:lpstr>ABOUT ZOMATO</vt:lpstr>
      <vt:lpstr>Problem Statement</vt:lpstr>
      <vt:lpstr>Data overview</vt:lpstr>
      <vt:lpstr>methodology</vt:lpstr>
      <vt:lpstr>Growth trajectory</vt:lpstr>
      <vt:lpstr>Global footprint</vt:lpstr>
      <vt:lpstr>Culinary trends </vt:lpstr>
      <vt:lpstr>Financial analysis</vt:lpstr>
      <vt:lpstr>Customer satisfaction</vt:lpstr>
      <vt:lpstr>Table booking</vt:lpstr>
      <vt:lpstr>Online delivery</vt:lpstr>
      <vt:lpstr>Strategic Recommendations</vt:lpstr>
      <vt:lpstr>PowerPoint Presentation</vt:lpstr>
      <vt:lpstr>conclusions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Mohit Rahangdale</dc:creator>
  <cp:lastModifiedBy>Mohit Rahangdale</cp:lastModifiedBy>
  <cp:revision>25</cp:revision>
  <dcterms:modified xsi:type="dcterms:W3CDTF">2026-01-28T13:49:01Z</dcterms:modified>
</cp:coreProperties>
</file>